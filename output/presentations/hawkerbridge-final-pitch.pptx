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d48c1ddf5924336" /><Relationship Type="http://schemas.openxmlformats.org/officeDocument/2006/relationships/extended-properties" Target="/docProps/app.xml" Id="Rdeaa644c51c44c28" /><Relationship Type="http://schemas.openxmlformats.org/officeDocument/2006/relationships/officeDocument" Target="/ppt/presentation.xml" Id="Ra2eb3f3a668b4781" /></Relationships>
</file>

<file path=ppt/presentation.xml><?xml version="1.0" encoding="utf-8"?>
<p:presentation xmlns:p="http://schemas.openxmlformats.org/presentationml/2006/main">
  <p:sldMasterIdLst>
    <p:sldMasterId xmlns:r="http://schemas.openxmlformats.org/officeDocument/2006/relationships" id="2147483648" r:id="Rf47369c8ed1e4716"/>
  </p:sldMasterIdLst>
  <p:notesMasterIdLst>
    <p:notesMasterId xmlns:r="http://schemas.openxmlformats.org/officeDocument/2006/relationships" r:id="R7933046ea8244c46"/>
  </p:notesMasterIdLst>
  <p:sldIdLst>
    <p:sldId xmlns:r="http://schemas.openxmlformats.org/officeDocument/2006/relationships" id="256" r:id="Rbebf9d24b4df4bf1"/>
    <p:sldId xmlns:r="http://schemas.openxmlformats.org/officeDocument/2006/relationships" id="257" r:id="R8dc496c33d574cef"/>
    <p:sldId xmlns:r="http://schemas.openxmlformats.org/officeDocument/2006/relationships" id="258" r:id="Rcdcbb0d6d5ec4424"/>
    <p:sldId xmlns:r="http://schemas.openxmlformats.org/officeDocument/2006/relationships" id="259" r:id="R2bddf9856dee45cb"/>
    <p:sldId xmlns:r="http://schemas.openxmlformats.org/officeDocument/2006/relationships" id="260" r:id="R4e4290182e8f4ec1"/>
    <p:sldId xmlns:r="http://schemas.openxmlformats.org/officeDocument/2006/relationships" id="261" r:id="Rb6df401daa504e9a"/>
    <p:sldId xmlns:r="http://schemas.openxmlformats.org/officeDocument/2006/relationships" id="262" r:id="Ra1d38f0ea6e844f2"/>
    <p:sldId xmlns:r="http://schemas.openxmlformats.org/officeDocument/2006/relationships" id="263" r:id="R2b11f05009454d16"/>
    <p:sldId xmlns:r="http://schemas.openxmlformats.org/officeDocument/2006/relationships" id="264" r:id="Rc880195393cf4d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a9fd4c739e74c4d" /><Relationship Type="http://schemas.openxmlformats.org/officeDocument/2006/relationships/slideMaster" Target="/ppt/slideMasters/slideMaster1.xml" Id="Rf47369c8ed1e4716" /><Relationship Type="http://schemas.openxmlformats.org/officeDocument/2006/relationships/notesMaster" Target="/ppt/notesMasters/notesMaster1.xml" Id="R7933046ea8244c46" /><Relationship Type="http://schemas.openxmlformats.org/officeDocument/2006/relationships/presProps" Target="/ppt/presProps.xml" Id="Rca52692114554f1b" /><Relationship Type="http://schemas.openxmlformats.org/officeDocument/2006/relationships/tableStyles" Target="/ppt/tableStyles.xml" Id="R05ae088f8c564402" /><Relationship Type="http://schemas.openxmlformats.org/officeDocument/2006/relationships/slide" Target="/ppt/slides/slide1.xml" Id="Rbebf9d24b4df4bf1" /><Relationship Type="http://schemas.openxmlformats.org/officeDocument/2006/relationships/slide" Target="/ppt/slides/slide2.xml" Id="R8dc496c33d574cef" /><Relationship Type="http://schemas.openxmlformats.org/officeDocument/2006/relationships/slide" Target="/ppt/slides/slide3.xml" Id="Rcdcbb0d6d5ec4424" /><Relationship Type="http://schemas.openxmlformats.org/officeDocument/2006/relationships/slide" Target="/ppt/slides/slide4.xml" Id="R2bddf9856dee45cb" /><Relationship Type="http://schemas.openxmlformats.org/officeDocument/2006/relationships/slide" Target="/ppt/slides/slide5.xml" Id="R4e4290182e8f4ec1" /><Relationship Type="http://schemas.openxmlformats.org/officeDocument/2006/relationships/slide" Target="/ppt/slides/slide6.xml" Id="Rb6df401daa504e9a" /><Relationship Type="http://schemas.openxmlformats.org/officeDocument/2006/relationships/slide" Target="/ppt/slides/slide7.xml" Id="Ra1d38f0ea6e844f2" /><Relationship Type="http://schemas.openxmlformats.org/officeDocument/2006/relationships/slide" Target="/ppt/slides/slide8.xml" Id="R2b11f05009454d16" /><Relationship Type="http://schemas.openxmlformats.org/officeDocument/2006/relationships/slide" Target="/ppt/slides/slide9.xml" Id="Rc880195393cf4d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c5de3fd0744b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99f401c269485c" /><Relationship Type="http://schemas.openxmlformats.org/officeDocument/2006/relationships/notesMaster" Target="/ppt/notesMasters/notesMaster1.xml" Id="R96c54ecbf7a34f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83bf3771714417" /><Relationship Type="http://schemas.openxmlformats.org/officeDocument/2006/relationships/notesMaster" Target="/ppt/notesMasters/notesMaster1.xml" Id="R6bd06594318c48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bf7b347b994b52" /><Relationship Type="http://schemas.openxmlformats.org/officeDocument/2006/relationships/notesMaster" Target="/ppt/notesMasters/notesMaster1.xml" Id="R614f0e1f85e846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530fa5255c4b41" /><Relationship Type="http://schemas.openxmlformats.org/officeDocument/2006/relationships/notesMaster" Target="/ppt/notesMasters/notesMaster1.xml" Id="R6c5ff6961f194b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cf0845a850402c" /><Relationship Type="http://schemas.openxmlformats.org/officeDocument/2006/relationships/notesMaster" Target="/ppt/notesMasters/notesMaster1.xml" Id="R73203d7bfda04b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5dfc4c4dc4422d" /><Relationship Type="http://schemas.openxmlformats.org/officeDocument/2006/relationships/notesMaster" Target="/ppt/notesMasters/notesMaster1.xml" Id="R92a2a35fc6fd42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4fd916dc7f4c3b" /><Relationship Type="http://schemas.openxmlformats.org/officeDocument/2006/relationships/notesMaster" Target="/ppt/notesMasters/notesMaster1.xml" Id="R8902c236ca36449b"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1dba17f4d543e6" /><Relationship Type="http://schemas.openxmlformats.org/officeDocument/2006/relationships/notesMaster" Target="/ppt/notesMasters/notesMaster1.xml" Id="Ra7831a7273c541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e8da5d2a3d47d3" /><Relationship Type="http://schemas.openxmlformats.org/officeDocument/2006/relationships/notesMaster" Target="/ppt/notesMasters/notesMaster1.xml" Id="R61e5a5cfea974d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owner: Shivam Gupta. No institution or student enrollment is implied. Context photograph only. Photo: Kagenlim, 12 February 2020, Tampines Round Market and Food Centre. Cropped for layout. https://commons.wikimedia.org/wiki/File:Hawker_Center,_Singapore.jpg . License: https://creativecommons.org/licenses/by-sa/4.0/ . Photo crop retains CC BY-SA 4.0. No endorsement by the photographer or depicted people. Product scope: https://daisi.online/guide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snapshot counts for 2026-09-28: {"total_centres":123,"closed_centres":17,"food_centres":120,"total_residents":4044340,"total_seniors":614900,"baseline_covered_residents":2304650,"remaining_covered_residents":2213470,"newly_exposed_residents":91180,"newly_exposed_seniors":17120,"affected_zones":6,"food_stalls_closed":1025}. Full data provenance: data/processed/snapshot.json. NEA source: https://data.gov.sg/datasets/d_bda4baa634dd1cc7a6c7cad5f19e2d68/view. Published closures may change. Do not claim all stalls are normally open or that every customer needs assistance. NEA closure responsibilities: https://www.nea.gov.sg/our-services/hawker-management/announcements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is recorded in scripts/presentations/assets/README.md. Product code: frontend/src/App.tsx and backend/hawkerbridge/engine.py. This is the working application, not a design mockup. The cleaning counterfactual removes a chosen adjustable event from the selected day for comparison. It does not modify a published government closure schedule or choose an operationally valid replacement date. For the dated 28 Sep 2026 model at 800 m, six populated subzones contain 91,180 census residents and 17,120 seniors whose representative points lose listed hawker coverage. These are not observed hungry residents. The screen omits coffee shops, food courts, individual needs and accessible walking routes. Dates of Hawker Centres Closure: https://data.gov.sg/datasets/d_bda4baa634dd1cc7a6c7cad5f19e2d68/view</a:t>
            </a:r>
          </a:p>
          <a:p xmlns:a="http://schemas.openxmlformats.org/drawingml/2006/main">
            <a:r>
              <a:t>Resident Population by Planning Area/Subzone, Age and Sex (Census 2020): https://data.gov.sg/datasets/d_d95ae740c0f8961a0b10435836660ce0/view</a:t>
            </a:r>
          </a:p>
          <a:p xmlns:a="http://schemas.openxmlformats.org/drawingml/2006/main">
            <a:r>
              <a:t>Master Plan 2019 Planning Area Boundary (No Sea): https://data.gov.sg/datasets/d_4765db0e87b9c86336792efe8a1f7a66/view</a:t>
            </a:r>
          </a:p>
          <a:p xmlns:a="http://schemas.openxmlformats.org/drawingml/2006/main">
            <a:r>
              <a:t>Master Plan 2019 Subzone Boundary (No Sea): https://data.gov.sg/datasets/d_8594ae9ff96d0c708bc2af633048edfb/view</a:t>
            </a:r>
          </a:p>
          <a:p xmlns:a="http://schemas.openxmlformats.org/drawingml/2006/main">
            <a:r>
              <a:t>Waste Management and Overall Recycling Rates, Annual: https://data.gov.sg/datasets/d_daf568968ab40dc81e7b08887a83c8fa/view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Dates of Hawker Centres Closure: https://data.gov.sg/datasets/d_bda4baa634dd1cc7a6c7cad5f19e2d68/view</a:t>
            </a:r>
          </a:p>
          <a:p xmlns:a="http://schemas.openxmlformats.org/drawingml/2006/main">
            <a:r>
              <a:t>Resident Population by Planning Area/Subzone, Age and Sex (Census 2020): https://data.gov.sg/datasets/d_d95ae740c0f8961a0b10435836660ce0/view</a:t>
            </a:r>
          </a:p>
          <a:p xmlns:a="http://schemas.openxmlformats.org/drawingml/2006/main">
            <a:r>
              <a:t>Master Plan 2019 Planning Area Boundary (No Sea): https://data.gov.sg/datasets/d_4765db0e87b9c86336792efe8a1f7a66/view</a:t>
            </a:r>
          </a:p>
          <a:p xmlns:a="http://schemas.openxmlformats.org/drawingml/2006/main">
            <a:r>
              <a:t>Master Plan 2019 Subzone Boundary (No Sea): https://data.gov.sg/datasets/d_8594ae9ff96d0c708bc2af633048edfb/view</a:t>
            </a:r>
          </a:p>
          <a:p xmlns:a="http://schemas.openxmlformats.org/drawingml/2006/main">
            <a:r>
              <a:t>Waste Management and Overall Recycling Rates, Annual: https://data.gov.sg/datasets/d_daf568968ab40dc81e7b08887a83c8fa/view</a:t>
            </a:r>
          </a:p>
          <a:p xmlns:a="http://schemas.openxmlformats.org/drawingml/2006/main">
            <a:r>
              <a:t>Quality: {"centres":123,"resolved_closure_intervals":507,"quarantined_closure_intervals":32,"demand_zones":332,"populated_demand_zones":286,"planning_areas":55,"unassigned_centres":0,"population_join_coverage_percent":100,"resident_sum_subzones":4044340,"senior_sum_subzones":614900}. Unknown dates and block-specific ambiguity are quarantined. Older repair dates remain in the archive but do not falsely imply current closure. 123 centres include three zero-food-stall markets excluded from meal-access distances. National food-waste statistics are not centre waste estimates. Singapore Open Data Licence: https://data.gov.sg/open-data-licence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code: databricks/notebooks/01_pipeline.py, databricks.yml, resources/, backend/hawkerbridge/databricks_store.py and docs/databricks-deployment.md. Execution status at deck build: {"local_app_tested":true,"databricks_workspace_execution_verified":true,"databricks_app_url":"https://hawkerbridge-7474659582484876.aws.databricksapps.com","successful_pipeline_run_url":"https://dbc-6fea141d-04eb.cloud.databricks.com/jobs/929729986607018/runs/1046237288082887?o=7474659582484876","mlflow_run_url":"https://dbc-6fea141d-04eb.cloud.databricks.com/ml/experiments/2274018642838106/runs/6b80647b3eea44d5bf9af59c315eec66","public_or_unlisted_video_url":null,"note":"This records actual evidence, not intended architecture. Populate cloud links only after successful workspace execution.","local_browser_workflow_verified":true,"verified_ci_run_url":"https://github.com/shi1720/DAISI/actions/runs/35691832262","verified_ci_revision":"1ba692e321f7453973cae2543df674450778eec5","local_source_archive_install_verified":true,"local_source_archive_verification":"Frozen dependency installation, frontend build, isolated local server, authenticated 225-meal proposal, five preserved sources, PDF export and synthetic plan cleanup.","local_source_archive_code_revision":"c279088","silent_demo_path":"output/video/hawkerbridge-demo-silent.mp4","silent_demo_execution_environment":"Local application in isolated GitHub Actions runner; not a recording of a hosted Databricks App.","silent_demo_capture_run_url":"https://github.com/shi1720/DAISI/actions/runs/35691366315","silent_demo_capture_note":"The recording test passed; that run also found expanded-banner contrast defects, which were fixed and verified by the later successful CI run. See output/video/provenance.json.","video_assembler_verified":true,"video_assembler_verification":"H.264 silent output and H.264/AAC output using a temporary test-silence input both verified at 175 seconds; local-execution footer visually inspected. No participant voiceover is claimed.","public_app_url":"https://hawkerbridge-sg.web.app","public_app_verification":"Hosted HTTP acceptance passed on hawkerbridge-api-00002-6x7: named and guest auth, secure sessions, owner isolation,225/450/450,all exports,CSRF/origin boundaries,concurrent edit409 and matching12/9/15 evidence. Saved account and225-meal plan survived rollout to hawkerbridge-api-00003-92d; test account removed. Real hosted browser journeys running separately.","databricks_publication_id":"69cbf18aae9c4f1883b629ab0de25843","databricks_input_mode":"live","databricks_cloud_scenarios":9,"source_fingerprint":"a3b84df2577a59a9d1cf6ccaf8cb45b47a0caffa4429122e1f409a29de274c4f","databricks_app_verification":"Actual OAuth health/session/evidence200, anonymous401,225/450/450 budget workflow; real Delta owner isolation and concurrent update conflict. See docs/databricks-verification.json. Browser render and second real workspace identity not yet tested.","public_api_revision":"hawkerbridge-api-00003-92d","hosted_smoke_report":"output/hosted-smoke.json","hosted_restart_report":"output/hosted-restart-smoke.json","public_retention_job":"hawkerbridge-retention","public_retention_schedule":"Hourly at minute15, Asia/Singapore"}. Unity Catalog governance and explicit lineage records are implemented. Do not claim unverified automatic column lineage. Publication uses staging plus a final pointer record, not cross-table ACID. Archived replay is explicitly labeled if used. Cloud mode fails closed rather than silently displaying local data. Free Edition limitations: https://docs.databricks.com/aws/en/getting-started/free-edition-limitations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9-row primary grid plus radius sensitivity totals 15 unique solves. Source: data/processed/evaluation.json and docs/evaluation.md. Benchmark input source SHA-256: 5b7aaf83b6cdc25fb4262eaa99ee116925d4c5ab8a634647f46f35d21acde783. Primary data: [{"id":"2026-09-22-sgd1500-r800","summary":{"budget":1500,"spent":1500,"unspent":0,"total_meals":225,"estimated_demand":19520,"unmet_demand":19295,"sites_selected":2,"weighted_benefit":271.31,"baseline_weighted_benefit":251.19,"improvement_pct":8,"solver_status":"optimal"}},{"id":"2026-09-22-sgd3000-r800","summary":{"budget":3000,"spent":2700,"unspent":300,"total_meals":450,"estimated_demand":19520,"unmet_demand":19070,"sites_selected":3,"weighted_benefit":542.205,"baseline_weighted_benefit":498.537,"improvement_pct":8.8,"solver_status":"optimal"}},{"id":"2026-09-22-sgd6000-r800","summary":{"budget":6000,"spent":2700,"unspent":3300,"total_meals":450,"estimated_demand":19520,"unmet_demand":19070,"sites_selected":3,"weighted_benefit":542.205,"baseline_weighted_benefit":498.537,"improvement_pct":8.8,"solver_status":"optimal"}},{"id":"2026-09-28-sgd1500-r800","summary":{"budget":1500,"spent":1500,"unspent":0,"total_meals":225,"estimated_demand":4561,"unmet_demand":4336,"sites_selected":2,"weighted_benefit":271.003,"baseline_weighted_benefit":266.466,"improvement_pct":1.7,"solver_status":"optimal"}},{"id":"2026-09-28-sgd3000-r800","summary":{"budget":3000,"spent":2700,"unspent":300,"total_meals":450,"estimated_demand":4561,"unmet_demand":4111,"sites_selected":3,"weighted_benefit":538.909,"baseline_weighted_benefit":537.275,"improvement_pct":0.3,"solver_status":"optimal"}},{"id":"2026-09-28-sgd6000-r800","summary":{"budget":6000,"spent":2700,"unspent":3300,"total_meals":450,"estimated_demand":4561,"unmet_demand":4111,"sites_selected":3,"weighted_benefit":538.909,"baseline_weighted_benefit":537.275,"improvement_pct":0.3,"solver_status":"optimal"}},{"id":"2026-12-14-sgd1500-r800","summary":{"budget":1500,"spent":1500,"unspent":0,"total_meals":225,"estimated_demand":25473,"unmet_demand":25248,"sites_selected":2,"weighted_benefit":273.258,"baseline_weighted_benefit":251.19,"improvement_pct":8.8,"solver_status":"optimal"}},{"id":"2026-12-14-sgd3000-r800","summary":{"budget":3000,"spent":2700,"unspent":300,"total_meals":450,"estimated_demand":25473,"unmet_demand":25023,"sites_selected":3,"weighted_benefit":544.261,"baseline_weighted_benefit":498.537,"improvement_pct":9.2,"solver_status":"optimal"}},{"id":"2026-12-14-sgd6000-r800","summary":{"budget":6000,"spent":2700,"unspent":3300,"total_meals":450,"estimated_demand":25473,"unmet_demand":25023,"sites_selected":3,"weighted_benefit":544.261,"baseline_weighted_benefit":498.537,"improvement_pct":9.2,"solver_status":"optimal"}}]. Optimisation and baseline use the same constraints and explicit senior policy. Optimality is within 0.1% configured MIP gap, not an absolute proof for every possible input. Scenario uplift is not the number of meals delivered or the number of additional people helped. Nine tiny test cases also compare MILP with exhaustive enumeration. The September 28 S$1,500 scenario plans 225 meals for S$1,500. S$3,000 and S$6,000 scenarios each plan 450 for S$2,700. No operator has verified these capacities.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scripts/presentations/assets/README.md and screenshots.json. Real executed browser-test workflow, 28 Sep 2026, S$1,500 budget, 225 planned meals. The automated test exercises the review checklist and PDF download. No real venue verification, operator review or delivery occurred. The application preserves source fingerprints and parameters in saved plans and exports. Owner filtering is application-enforced in the Databricks store. It is not a claim of database row-level tenant isolation against workspace administrators. Human review is an operational gate, not an automated authorisation. No personal beneficiary records are required by the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Price hypotheses and full sensitivity: docs/business-case.md. Proposed S$1,000 pilot creditable to S$250–500 subscription. These are not validated prices or revenue. Example downside: 5 organisations × S$250, 5 support hours each × assumed S$30/hour, S$600 assumed hosting = −S$100 before development and other costs. Hosting numbers are planning allowances, not Databricks quotes. Public sources are not proprietary advantage. Existing alternatives include NEA myENV, SGMakan closure dates and coordinator spreadsheets. NEA operating context: https://www.nea.gov.sg/our-services/hawker-management/announcements . Databricks Free Edition is noncommercial and has no SLA: https://docs.databricks.com/aws/en/getting-started/free-edition-limitations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Prospective validation protocol: submission/whats-next.md, submission/buyer-interview-guide.md and docs/business-case.md. No stakeholder interview, actual pilot, commercial commitment or measured welfare outcome is claimed. At least three non-leading interviews and observation of an existing workflow should precede a funded engagement. Compare equal preparation tasks, record corrections, venue rejection, support hours and willingness to repeat a paid engagement. The small pilot cannot establish national causal impact. Platform prerequisite status: {"local_app_tested":true,"databricks_workspace_execution_verified":true,"databricks_app_url":"https://hawkerbridge-7474659582484876.aws.databricksapps.com","successful_pipeline_run_url":"https://dbc-6fea141d-04eb.cloud.databricks.com/jobs/929729986607018/runs/1046237288082887?o=7474659582484876","mlflow_run_url":"https://dbc-6fea141d-04eb.cloud.databricks.com/ml/experiments/2274018642838106/runs/6b80647b3eea44d5bf9af59c315eec66","public_or_unlisted_video_url":null,"note":"This records actual evidence, not intended architecture. Populate cloud links only after successful workspace execution.","local_browser_workflow_verified":true,"verified_ci_run_url":"https://github.com/shi1720/DAISI/actions/runs/35691832262","verified_ci_revision":"1ba692e321f7453973cae2543df674450778eec5","local_source_archive_install_verified":true,"local_source_archive_verification":"Frozen dependency installation, frontend build, isolated local server, authenticated 225-meal proposal, five preserved sources, PDF export and synthetic plan cleanup.","local_source_archive_code_revision":"c279088","silent_demo_path":"output/video/hawkerbridge-demo-silent.mp4","silent_demo_execution_environment":"Local application in isolated GitHub Actions runner; not a recording of a hosted Databricks App.","silent_demo_capture_run_url":"https://github.com/shi1720/DAISI/actions/runs/35691366315","silent_demo_capture_note":"The recording test passed; that run also found expanded-banner contrast defects, which were fixed and verified by the later successful CI run. See output/video/provenance.json.","video_assembler_verified":true,"video_assembler_verification":"H.264 silent output and H.264/AAC output using a temporary test-silence input both verified at 175 seconds; local-execution footer visually inspected. No participant voiceover is claimed.","public_app_url":"https://hawkerbridge-sg.web.app","public_app_verification":"Hosted HTTP acceptance passed on hawkerbridge-api-00002-6x7: named and guest auth, secure sessions, owner isolation,225/450/450,all exports,CSRF/origin boundaries,concurrent edit409 and matching12/9/15 evidence. Saved account and225-meal plan survived rollout to hawkerbridge-api-00003-92d; test account removed. Real hosted browser journeys running separately.","databricks_publication_id":"69cbf18aae9c4f1883b629ab0de25843","databricks_input_mode":"live","databricks_cloud_scenarios":9,"source_fingerprint":"a3b84df2577a59a9d1cf6ccaf8cb45b47a0caffa4429122e1f409a29de274c4f","databricks_app_verification":"Actual OAuth health/session/evidence200, anonymous401,225/450/450 budget workflow; real Delta owner isolation and concurrent update conflict. See docs/databricks-verification.json. Browser render and second real workspace identity not yet tested.","public_api_revision":"hawkerbridge-api-00003-92d","hosted_smoke_report":"output/hosted-smoke.json","hosted_restart_report":"output/hosted-restart-smoke.json","public_retention_job":"hawkerbridge-retention","public_retention_schedule":"Hourly at minute15, Asia/Singapore"}. Newer compatible demographics and real operator capacity are prioritised inputs. Project owner: Shivam Gupta. Confirm eligibility and full team details separately; the deck does not imply IHL enrollment.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0c86f77ab84c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fd10779dd445ff" /><Relationship Type="http://schemas.openxmlformats.org/officeDocument/2006/relationships/slideLayout" Target="/ppt/slideLayouts/slideLayout1.xml" Id="Re62d13c5226d46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2d13c5226d46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13e1ce16b9e462f" /><Relationship Type="http://schemas.openxmlformats.org/officeDocument/2006/relationships/image" Target="/ppt/media/image.jpeg" Id="Rb2421fd0bd674973" /><Relationship Type="http://schemas.openxmlformats.org/officeDocument/2006/relationships/notesSlide" Target="/ppt/notesSlides/notesSlide1.xml" Id="R59f6f50069ec4b0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295f319124645bf" /><Relationship Type="http://schemas.openxmlformats.org/officeDocument/2006/relationships/notesSlide" Target="/ppt/notesSlides/notesSlide2.xml" Id="Rc39df44d99ab4b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be6066af314af0" /><Relationship Type="http://schemas.openxmlformats.org/officeDocument/2006/relationships/image" Target="/ppt/media/image.png" Id="R18ea12faabf4467a" /><Relationship Type="http://schemas.openxmlformats.org/officeDocument/2006/relationships/notesSlide" Target="/ppt/notesSlides/notesSlide3.xml" Id="R18554f34d94d42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601053b135a4372" /><Relationship Type="http://schemas.openxmlformats.org/officeDocument/2006/relationships/notesSlide" Target="/ppt/notesSlides/notesSlide4.xml" Id="R256b5c0ec72844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749db148454059" /><Relationship Type="http://schemas.openxmlformats.org/officeDocument/2006/relationships/notesSlide" Target="/ppt/notesSlides/notesSlide5.xml" Id="Rb73ac533e99342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c72821ba5564cc2" /><Relationship Type="http://schemas.openxmlformats.org/officeDocument/2006/relationships/chart" Target="/ppt/slides/charts/chart1.xml" Id="R3d614503e68847fa" /><Relationship Type="http://schemas.openxmlformats.org/officeDocument/2006/relationships/notesSlide" Target="/ppt/notesSlides/notesSlide6.xml" Id="Rb901d28e5cec43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c44e7ce1364d0e" /><Relationship Type="http://schemas.openxmlformats.org/officeDocument/2006/relationships/image" Target="/ppt/media/image2.png" Id="Rf2d260e8cf444d82" /><Relationship Type="http://schemas.openxmlformats.org/officeDocument/2006/relationships/notesSlide" Target="/ppt/notesSlides/notesSlide7.xml" Id="R61c9ebfd69cb49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d84c1c7612b4efd" /><Relationship Type="http://schemas.openxmlformats.org/officeDocument/2006/relationships/notesSlide" Target="/ppt/notesSlides/notesSlide8.xml" Id="R82a9fdb1158d44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13824732c5d4ade" /><Relationship Type="http://schemas.openxmlformats.org/officeDocument/2006/relationships/notesSlide" Target="/ppt/notesSlides/notesSlide9.xml" Id="Rbb2e8ac19c6546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S$1,500</c:v>
          </c:tx>
          <c:spPr>
            <a:solidFill xmlns:a="http://schemas.openxmlformats.org/drawingml/2006/main">
              <a:srgbClr val="AFC1A4"/>
            </a:solidFill>
          </c:spPr>
          <c:cat>
            <c:strRef>
              <c:f>'Chart Data'!$A$2:$A$4</c:f>
              <c:strCache>
                <c:ptCount val="3"/>
                <c:pt idx="0">
                  <c:v>22 Sep</c:v>
                </c:pt>
                <c:pt idx="1">
                  <c:v>28 Sep</c:v>
                </c:pt>
                <c:pt idx="2">
                  <c:v>14 Dec</c:v>
                </c:pt>
              </c:strCache>
            </c:strRef>
          </c:cat>
          <c:val>
            <c:numRef>
              <c:f>'Chart Data'!$B$2:$B$4</c:f>
              <c:numCache>
                <c:formatCode>0.0%</c:formatCode>
                <c:ptCount val="3"/>
                <c:pt idx="0">
                  <c:v>0.08</c:v>
                </c:pt>
                <c:pt idx="1">
                  <c:v>0.017</c:v>
                </c:pt>
                <c:pt idx="2">
                  <c:v>0.088</c:v>
                </c:pt>
              </c:numCache>
            </c:numRef>
          </c:val>
        </c:ser>
        <c:ser>
          <c:idx val="1"/>
          <c:order val="1"/>
          <c:tx>
            <c:v>S$3,000</c:v>
          </c:tx>
          <c:spPr>
            <a:solidFill xmlns:a="http://schemas.openxmlformats.org/drawingml/2006/main">
              <a:srgbClr val="123B36"/>
            </a:solidFill>
          </c:spPr>
          <c:cat>
            <c:strRef>
              <c:f>'Chart Data'!$C$2:$C$4</c:f>
              <c:strCache>
                <c:ptCount val="3"/>
                <c:pt idx="0">
                  <c:v>22 Sep</c:v>
                </c:pt>
                <c:pt idx="1">
                  <c:v>28 Sep</c:v>
                </c:pt>
                <c:pt idx="2">
                  <c:v>14 Dec</c:v>
                </c:pt>
              </c:strCache>
            </c:strRef>
          </c:cat>
          <c:val>
            <c:numRef>
              <c:f>'Chart Data'!$D$2:$D$4</c:f>
              <c:numCache>
                <c:formatCode>0.0%</c:formatCode>
                <c:ptCount val="3"/>
                <c:pt idx="0">
                  <c:v>0.088</c:v>
                </c:pt>
                <c:pt idx="1">
                  <c:v>0.003</c:v>
                </c:pt>
                <c:pt idx="2">
                  <c:v>0.092</c:v>
                </c:pt>
              </c:numCache>
            </c:numRef>
          </c:val>
        </c:ser>
        <c:ser>
          <c:idx val="2"/>
          <c:order val="2"/>
          <c:tx>
            <c:v>S$6,000</c:v>
          </c:tx>
          <c:spPr>
            <a:solidFill xmlns:a="http://schemas.openxmlformats.org/drawingml/2006/main">
              <a:srgbClr val="C94C30"/>
            </a:solidFill>
          </c:spPr>
          <c:cat>
            <c:strRef>
              <c:f>'Chart Data'!$E$2:$E$4</c:f>
              <c:strCache>
                <c:ptCount val="3"/>
                <c:pt idx="0">
                  <c:v>22 Sep</c:v>
                </c:pt>
                <c:pt idx="1">
                  <c:v>28 Sep</c:v>
                </c:pt>
                <c:pt idx="2">
                  <c:v>14 Dec</c:v>
                </c:pt>
              </c:strCache>
            </c:strRef>
          </c:cat>
          <c:val>
            <c:numRef>
              <c:f>'Chart Data'!$F$2:$F$4</c:f>
              <c:numCache>
                <c:formatCode>0.0%</c:formatCode>
                <c:ptCount val="3"/>
                <c:pt idx="0">
                  <c:v>0.088</c:v>
                </c:pt>
                <c:pt idx="1">
                  <c:v>0.003</c:v>
                </c:pt>
                <c:pt idx="2">
                  <c:v>0.092</c:v>
                </c:pt>
              </c:numCache>
            </c:numRef>
          </c:val>
        </c:ser>
        <c:dLbls>
          <c:txPr>
            <a:bodyPr xmlns:a="http://schemas.openxmlformats.org/drawingml/2006/main" anchorCtr="1"/>
            <a:lstStyle xmlns:a="http://schemas.openxmlformats.org/drawingml/2006/main"/>
            <a:p xmlns:a="http://schemas.openxmlformats.org/drawingml/2006/main">
              <a:pPr>
                <a:defRPr sz="1275">
                  <a:solidFill>
                    <a:srgbClr val="173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DED2"/>
            </a:solidFill>
          </a:ln>
        </c:spPr>
        <c:txPr>
          <a:bodyPr xmlns:a="http://schemas.openxmlformats.org/drawingml/2006/main" anchorCtr="1"/>
          <a:lstStyle xmlns:a="http://schemas.openxmlformats.org/drawingml/2006/main"/>
          <a:p xmlns:a="http://schemas.openxmlformats.org/drawingml/2006/main">
            <a:pPr>
              <a:defRPr sz="1500">
                <a:solidFill>
                  <a:srgbClr val="173D35"/>
                </a:solidFill>
                <a:latin typeface="Helvetica Neue"/>
                <a:ea typeface="Helvetica Neue"/>
                <a:cs typeface="Helvetica Neue"/>
              </a:defRPr>
            </a:pPr>
          </a:p>
        </c:txPr>
        <c:crossAx val="48672768"/>
      </c:catAx>
      <c:valAx>
        <c:axId val="48672768"/>
        <c:scaling>
          <c:orientation val="minMax"/>
          <c:max val="0.1"/>
          <c:min val="0"/>
        </c:scaling>
        <c:delete val="0"/>
        <c:axPos val="l"/>
        <c:majorGridlines>
          <c:spPr>
            <a:ln xmlns:a="http://schemas.openxmlformats.org/drawingml/2006/main" w="9525">
              <a:solidFill>
                <a:srgbClr val="DADED2"/>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65756D"/>
                </a:solidFill>
                <a:latin typeface="Helvetica Neue"/>
                <a:ea typeface="Helvetica Neue"/>
                <a:cs typeface="Helvetica Neue"/>
              </a:defRPr>
            </a:pPr>
          </a:p>
        </c:txPr>
        <c:crossAx val="48650112"/>
        <c:crossBetween val="between"/>
        <c:majorUnit val="0.05"/>
      </c:valAx>
      <c:spPr>
        <a:solidFill xmlns:a="http://schemas.openxmlformats.org/drawingml/2006/main">
          <a:srgbClr val="F7F6F0"/>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73D35"/>
              </a:solidFill>
              <a:latin typeface="Helvetica Neue"/>
              <a:ea typeface="Helvetica Neue"/>
              <a:cs typeface="Helvetica Neue"/>
            </a:defRPr>
          </a:pPr>
        </a:p>
      </c:txPr>
    </c:legend>
    <c:plotVisOnly val="1"/>
  </c:chart>
  <c:spPr>
    <a:solidFill xmlns:a="http://schemas.openxmlformats.org/drawingml/2006/main">
      <a:srgbClr val="F7F6F0"/>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B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044BE0B-1F67-469B-94C5-CF278360314C}"/>
              </a:ext>
            </a:extLst>
          </p:cNvPr>
          <p:cNvSpPr>
            <a:spLocks xmlns:a="http://schemas.openxmlformats.org/drawingml/2006/main" noGrp="1"/>
          </p:cNvSpPr>
          <p:nvPr/>
        </p:nvSpPr>
        <p:spPr>
          <a:xfrm xmlns:a="http://schemas.openxmlformats.org/drawingml/2006/main">
            <a:off x="571500" y="13811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5550" b="1">
                <a:solidFill>
                  <a:srgbClr val="F7F6F0"/>
                </a:solidFill>
                <a:latin typeface="Helvetica Neue"/>
                <a:ea typeface="Helvetica Neue"/>
                <a:cs typeface="Helvetica Neue"/>
              </a:defRPr>
            </a:pPr>
            <a:r>
              <a:rPr sz="5550" b="1">
                <a:solidFill>
                  <a:srgbClr val="F7F6F0"/>
                </a:solidFill>
                <a:latin typeface="Helvetica Neue"/>
                <a:ea typeface="Helvetica Neue"/>
                <a:cs typeface="Helvetica Neue"/>
              </a:rPr>
              <a:t>HawkerBridge</a:t>
            </a:r>
          </a:p>
        </p:txBody>
      </p:sp>
      <p:sp>
        <p:nvSpPr>
          <p:cNvPr id="2" name="">
            <a:extLst xmlns:a="http://schemas.openxmlformats.org/drawingml/2006/main">
              <a:ext uri="{FF2B5EF4-FFF2-40B4-BE49-F238E27FC236}">
                <a16:creationId xmlns:a16="http://schemas.microsoft.com/office/drawing/2014/main" id="{9AF4CF19-0392-408B-8605-2F7969EBA65C}"/>
              </a:ext>
            </a:extLst>
          </p:cNvPr>
          <p:cNvSpPr>
            <a:spLocks xmlns:a="http://schemas.openxmlformats.org/drawingml/2006/main" noGrp="1"/>
          </p:cNvSpPr>
          <p:nvPr/>
        </p:nvSpPr>
        <p:spPr>
          <a:xfrm xmlns:a="http://schemas.openxmlformats.org/drawingml/2006/main">
            <a:off x="600075" y="2552700"/>
            <a:ext cx="5524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0">
                <a:solidFill>
                  <a:srgbClr val="F7F6F0"/>
                </a:solidFill>
                <a:latin typeface="Helvetica Neue"/>
                <a:ea typeface="Helvetica Neue"/>
                <a:cs typeface="Helvetica Neue"/>
              </a:defRPr>
            </a:pPr>
            <a:r>
              <a:rPr sz="2850" b="0">
                <a:solidFill>
                  <a:srgbClr val="F7F6F0"/>
                </a:solidFill>
                <a:latin typeface="Helvetica Neue"/>
                <a:ea typeface="Helvetica Neue"/>
                <a:cs typeface="Helvetica Neue"/>
              </a:rPr>
              <a:t>A closure continuity desk</a:t>
            </a:r>
          </a:p>
          <a:p xmlns:a="http://schemas.openxmlformats.org/drawingml/2006/main">
            <a:pPr>
              <a:defRPr sz="2850" b="0">
                <a:solidFill>
                  <a:srgbClr val="F7F6F0"/>
                </a:solidFill>
                <a:latin typeface="Helvetica Neue"/>
                <a:ea typeface="Helvetica Neue"/>
                <a:cs typeface="Helvetica Neue"/>
              </a:defRPr>
            </a:pPr>
            <a:r>
              <a:rPr sz="2850" b="0">
                <a:solidFill>
                  <a:srgbClr val="F7F6F0"/>
                </a:solidFill>
                <a:latin typeface="Helvetica Neue"/>
                <a:ea typeface="Helvetica Neue"/>
                <a:cs typeface="Helvetica Neue"/>
              </a:rPr>
              <a:t>for Singapore</a:t>
            </a:r>
          </a:p>
        </p:txBody>
      </p:sp>
      <p:sp>
        <p:nvSpPr>
          <p:cNvPr id="3" name="">
            <a:extLst xmlns:a="http://schemas.openxmlformats.org/drawingml/2006/main">
              <a:ext uri="{FF2B5EF4-FFF2-40B4-BE49-F238E27FC236}">
                <a16:creationId xmlns:a16="http://schemas.microsoft.com/office/drawing/2014/main" id="{901469A1-825B-4B75-AD45-3A9ADF309EEB}"/>
              </a:ext>
            </a:extLst>
          </p:cNvPr>
          <p:cNvSpPr>
            <a:spLocks xmlns:a="http://schemas.openxmlformats.org/drawingml/2006/main" noGrp="1"/>
          </p:cNvSpPr>
          <p:nvPr/>
        </p:nvSpPr>
        <p:spPr>
          <a:xfrm xmlns:a="http://schemas.openxmlformats.org/drawingml/2006/main">
            <a:off x="609600" y="4857750"/>
            <a:ext cx="4762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Shivam Gupta</a:t>
            </a:r>
          </a:p>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DAISI Singapore 2026</a:t>
            </a:r>
          </a:p>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C3  KopilamAI</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2421fd0bd674973"/>
          <a:srcRect xmlns:a="http://schemas.openxmlformats.org/drawingml/2006/main" l="23958" t="0" r="23958" b="0"/>
          <a:stretch xmlns:a="http://schemas.openxmlformats.org/drawingml/2006/main">
            <a:fillRect l="0" t="0" r="0" b="0"/>
          </a:stretch>
        </p:blipFill>
        <p:spPr>
          <a:xfrm xmlns:a="http://schemas.openxmlformats.org/drawingml/2006/main">
            <a:off x="7429500" y="0"/>
            <a:ext cx="4762500" cy="6858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CDAE934-BC21-4208-8BC6-08F17C3E63D5}"/>
              </a:ext>
            </a:extLst>
          </p:cNvPr>
          <p:cNvSpPr>
            <a:spLocks xmlns:a="http://schemas.openxmlformats.org/drawingml/2006/main" noGrp="1"/>
          </p:cNvSpPr>
          <p:nvPr/>
        </p:nvSpPr>
        <p:spPr>
          <a:xfrm xmlns:a="http://schemas.openxmlformats.org/drawingml/2006/main">
            <a:off x="609600" y="6248400"/>
            <a:ext cx="6381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AFC1A4"/>
                </a:solidFill>
                <a:latin typeface="Helvetica Neue"/>
                <a:ea typeface="Helvetica Neue"/>
                <a:cs typeface="Helvetica Neue"/>
              </a:defRPr>
            </a:pPr>
            <a:r>
              <a:rPr sz="1050" b="0">
                <a:solidFill>
                  <a:srgbClr val="AFC1A4"/>
                </a:solidFill>
                <a:latin typeface="Helvetica Neue"/>
                <a:ea typeface="Helvetica Neue"/>
                <a:cs typeface="Helvetica Neue"/>
              </a:rPr>
              <a:t>Photo: Kagenlim, Tampines Round Market (2020), cropped</a:t>
            </a:r>
          </a:p>
          <a:p xmlns:a="http://schemas.openxmlformats.org/drawingml/2006/main">
            <a:pPr>
              <a:defRPr sz="1050" b="0">
                <a:solidFill>
                  <a:srgbClr val="AFC1A4"/>
                </a:solidFill>
                <a:latin typeface="Helvetica Neue"/>
                <a:ea typeface="Helvetica Neue"/>
                <a:cs typeface="Helvetica Neue"/>
              </a:defRPr>
            </a:pPr>
            <a:r>
              <a:rPr sz="1050" b="0">
                <a:solidFill>
                  <a:srgbClr val="AFC1A4"/>
                </a:solidFill>
                <a:latin typeface="Helvetica Neue"/>
                <a:ea typeface="Helvetica Neue"/>
                <a:cs typeface="Helvetica Neue"/>
              </a:rPr>
              <a:t>creativecommons.org/licenses/by-sa/4.0</a:t>
            </a:r>
          </a:p>
        </p:txBody>
      </p:sp>
    </p:spTree>
    <p:extLst>
      <p:ext uri="{BB962C8B-B14F-4D97-AF65-F5344CB8AC3E}">
        <p14:creationId xmlns:p14="http://schemas.microsoft.com/office/powerpoint/2010/main" val="1545716915"/>
      </p:ext>
    </p:extLst>
  </p:cSld>
</p:sld>
</file>

<file path=ppt/slides/slide2.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300C5A4-20A0-4D5A-AA2A-D13B4BEB3CAF}"/>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A closure notice leaves a planning gap</a:t>
            </a:r>
          </a:p>
        </p:txBody>
      </p:sp>
      <p:sp>
        <p:nvSpPr>
          <p:cNvPr id="2" name="">
            <a:extLst xmlns:a="http://schemas.openxmlformats.org/drawingml/2006/main">
              <a:ext uri="{FF2B5EF4-FFF2-40B4-BE49-F238E27FC236}">
                <a16:creationId xmlns:a16="http://schemas.microsoft.com/office/drawing/2014/main" id="{8FCF369D-936A-4179-9A12-50AA65CF13EA}"/>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6A8ED466-667B-4389-B912-379F468BF00C}"/>
              </a:ext>
            </a:extLst>
          </p:cNvPr>
          <p:cNvSpPr>
            <a:spLocks xmlns:a="http://schemas.openxmlformats.org/drawingml/2006/main" noGrp="1"/>
          </p:cNvSpPr>
          <p:nvPr/>
        </p:nvSpPr>
        <p:spPr>
          <a:xfrm xmlns:a="http://schemas.openxmlformats.org/drawingml/2006/main">
            <a:off x="571500" y="13430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28 September 2026</a:t>
            </a:r>
          </a:p>
        </p:txBody>
      </p:sp>
      <p:sp>
        <p:nvSpPr>
          <p:cNvPr id="4" name="">
            <a:extLst xmlns:a="http://schemas.openxmlformats.org/drawingml/2006/main">
              <a:ext uri="{FF2B5EF4-FFF2-40B4-BE49-F238E27FC236}">
                <a16:creationId xmlns:a16="http://schemas.microsoft.com/office/drawing/2014/main" id="{3C9EAEBE-E70C-4B44-8FFB-86E8D523D536}"/>
              </a:ext>
            </a:extLst>
          </p:cNvPr>
          <p:cNvSpPr>
            <a:spLocks xmlns:a="http://schemas.openxmlformats.org/drawingml/2006/main" noGrp="1"/>
          </p:cNvSpPr>
          <p:nvPr/>
        </p:nvSpPr>
        <p:spPr>
          <a:xfrm xmlns:a="http://schemas.openxmlformats.org/drawingml/2006/main">
            <a:off x="571500" y="2047875"/>
            <a:ext cx="3238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350" b="1">
                <a:solidFill>
                  <a:srgbClr val="C94C30"/>
                </a:solidFill>
                <a:latin typeface="Helvetica Neue"/>
                <a:ea typeface="Helvetica Neue"/>
                <a:cs typeface="Helvetica Neue"/>
              </a:defRPr>
            </a:pPr>
            <a:r>
              <a:rPr sz="7350" b="1">
                <a:solidFill>
                  <a:srgbClr val="C94C30"/>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4B492FBA-FBF7-44EB-B062-8A1BACAFE17F}"/>
              </a:ext>
            </a:extLst>
          </p:cNvPr>
          <p:cNvSpPr>
            <a:spLocks xmlns:a="http://schemas.openxmlformats.org/drawingml/2006/main" noGrp="1"/>
          </p:cNvSpPr>
          <p:nvPr/>
        </p:nvSpPr>
        <p:spPr>
          <a:xfrm xmlns:a="http://schemas.openxmlformats.org/drawingml/2006/main">
            <a:off x="619125" y="32099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scheduled centre closures</a:t>
            </a:r>
          </a:p>
        </p:txBody>
      </p:sp>
      <p:sp>
        <p:nvSpPr>
          <p:cNvPr id="6" name="">
            <a:extLst xmlns:a="http://schemas.openxmlformats.org/drawingml/2006/main">
              <a:ext uri="{FF2B5EF4-FFF2-40B4-BE49-F238E27FC236}">
                <a16:creationId xmlns:a16="http://schemas.microsoft.com/office/drawing/2014/main" id="{EA347AC7-CFF9-44D9-8613-0978209FDFB7}"/>
              </a:ext>
            </a:extLst>
          </p:cNvPr>
          <p:cNvSpPr>
            <a:spLocks xmlns:a="http://schemas.openxmlformats.org/drawingml/2006/main" noGrp="1"/>
          </p:cNvSpPr>
          <p:nvPr/>
        </p:nvSpPr>
        <p:spPr>
          <a:xfrm xmlns:a="http://schemas.openxmlformats.org/drawingml/2006/main">
            <a:off x="5524500" y="2047875"/>
            <a:ext cx="5905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350" b="1">
                <a:solidFill>
                  <a:srgbClr val="173D35"/>
                </a:solidFill>
                <a:latin typeface="Helvetica Neue"/>
                <a:ea typeface="Helvetica Neue"/>
                <a:cs typeface="Helvetica Neue"/>
              </a:defRPr>
            </a:pPr>
            <a:r>
              <a:rPr sz="7350" b="1">
                <a:solidFill>
                  <a:srgbClr val="173D35"/>
                </a:solidFill>
                <a:latin typeface="Helvetica Neue"/>
                <a:ea typeface="Helvetica Neue"/>
                <a:cs typeface="Helvetica Neue"/>
              </a:rPr>
              <a:t>1,025</a:t>
            </a:r>
          </a:p>
        </p:txBody>
      </p:sp>
      <p:sp>
        <p:nvSpPr>
          <p:cNvPr id="7" name="">
            <a:extLst xmlns:a="http://schemas.openxmlformats.org/drawingml/2006/main">
              <a:ext uri="{FF2B5EF4-FFF2-40B4-BE49-F238E27FC236}">
                <a16:creationId xmlns:a16="http://schemas.microsoft.com/office/drawing/2014/main" id="{AE1FD414-DDDE-4100-9AC8-17E60B12ECA1}"/>
              </a:ext>
            </a:extLst>
          </p:cNvPr>
          <p:cNvSpPr>
            <a:spLocks xmlns:a="http://schemas.openxmlformats.org/drawingml/2006/main" noGrp="1"/>
          </p:cNvSpPr>
          <p:nvPr/>
        </p:nvSpPr>
        <p:spPr>
          <a:xfrm xmlns:a="http://schemas.openxmlformats.org/drawingml/2006/main">
            <a:off x="5572125" y="3209925"/>
            <a:ext cx="561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listed food stalls inside those centres</a:t>
            </a:r>
          </a:p>
        </p:txBody>
      </p:sp>
      <p:sp>
        <p:nvSpPr>
          <p:cNvPr id="8" name="">
            <a:extLst xmlns:a="http://schemas.openxmlformats.org/drawingml/2006/main">
              <a:ext uri="{FF2B5EF4-FFF2-40B4-BE49-F238E27FC236}">
                <a16:creationId xmlns:a16="http://schemas.microsoft.com/office/drawing/2014/main" id="{BD580213-4DB5-4E6D-B5B6-C234F2604DC0}"/>
              </a:ext>
            </a:extLst>
          </p:cNvPr>
          <p:cNvSpPr>
            <a:spLocks xmlns:a="http://schemas.openxmlformats.org/drawingml/2006/main" noGrp="1"/>
          </p:cNvSpPr>
          <p:nvPr/>
        </p:nvSpPr>
        <p:spPr>
          <a:xfrm xmlns:a="http://schemas.openxmlformats.org/drawingml/2006/main">
            <a:off x="619125" y="4238625"/>
            <a:ext cx="9906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0">
                <a:solidFill>
                  <a:srgbClr val="173D35"/>
                </a:solidFill>
                <a:latin typeface="Helvetica Neue"/>
                <a:ea typeface="Helvetica Neue"/>
                <a:cs typeface="Helvetica Neue"/>
              </a:defRPr>
            </a:pPr>
            <a:r>
              <a:rPr sz="2700" b="0">
                <a:solidFill>
                  <a:srgbClr val="173D35"/>
                </a:solidFill>
                <a:latin typeface="Helvetica Neue"/>
                <a:ea typeface="Helvetica Neue"/>
                <a:cs typeface="Helvetica Neue"/>
              </a:rPr>
              <a:t>A coordinator still needs to decide</a:t>
            </a:r>
          </a:p>
          <a:p xmlns:a="http://schemas.openxmlformats.org/drawingml/2006/main">
            <a:pPr>
              <a:defRPr sz="2700" b="0">
                <a:solidFill>
                  <a:srgbClr val="173D35"/>
                </a:solidFill>
                <a:latin typeface="Helvetica Neue"/>
                <a:ea typeface="Helvetica Neue"/>
                <a:cs typeface="Helvetica Neue"/>
              </a:defRPr>
            </a:pPr>
            <a:r>
              <a:rPr sz="2700" b="0">
                <a:solidFill>
                  <a:srgbClr val="173D35"/>
                </a:solidFill>
                <a:latin typeface="Helvetica Neue"/>
                <a:ea typeface="Helvetica Neue"/>
                <a:cs typeface="Helvetica Neue"/>
              </a:rPr>
              <a:t>where temporary support is feasible.</a:t>
            </a:r>
          </a:p>
        </p:txBody>
      </p:sp>
      <p:sp>
        <p:nvSpPr>
          <p:cNvPr id="9" name="">
            <a:extLst xmlns:a="http://schemas.openxmlformats.org/drawingml/2006/main">
              <a:ext uri="{FF2B5EF4-FFF2-40B4-BE49-F238E27FC236}">
                <a16:creationId xmlns:a16="http://schemas.microsoft.com/office/drawing/2014/main" id="{40C8D640-F40F-45C7-A508-1FAE6D13BFF6}"/>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Source: NEA schedule archived 22 Sep 2026. Stall counts describe infrastructure, not measured meal capacity.</a:t>
            </a:r>
          </a:p>
        </p:txBody>
      </p:sp>
    </p:spTree>
    <p:extLst>
      <p:ext uri="{BB962C8B-B14F-4D97-AF65-F5344CB8AC3E}">
        <p14:creationId xmlns:p14="http://schemas.microsoft.com/office/powerpoint/2010/main" val="1504852263"/>
      </p:ext>
    </p:extLst>
  </p:cSld>
</p:sld>
</file>

<file path=ppt/slides/slide3.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C05E27-2F6B-4599-B8B2-0028751FD476}"/>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The coordinator’s working view</a:t>
            </a:r>
          </a:p>
        </p:txBody>
      </p:sp>
      <p:sp>
        <p:nvSpPr>
          <p:cNvPr id="2" name="">
            <a:extLst xmlns:a="http://schemas.openxmlformats.org/drawingml/2006/main">
              <a:ext uri="{FF2B5EF4-FFF2-40B4-BE49-F238E27FC236}">
                <a16:creationId xmlns:a16="http://schemas.microsoft.com/office/drawing/2014/main" id="{8E033F6D-4FFF-4A28-9EDE-E3B28F096718}"/>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03</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8ea12faabf4467a"/>
          <a:stretch xmlns:a="http://schemas.openxmlformats.org/drawingml/2006/main"/>
        </p:blipFill>
        <p:spPr>
          <a:xfrm xmlns:a="http://schemas.openxmlformats.org/drawingml/2006/main">
            <a:off x="725365" y="1304925"/>
            <a:ext cx="7693269"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C63C8BE-5A20-4A32-B765-B62CE683BB3D}"/>
              </a:ext>
            </a:extLst>
          </p:cNvPr>
          <p:cNvSpPr>
            <a:spLocks xmlns:a="http://schemas.openxmlformats.org/drawingml/2006/main" noGrp="1"/>
          </p:cNvSpPr>
          <p:nvPr/>
        </p:nvSpPr>
        <p:spPr>
          <a:xfrm xmlns:a="http://schemas.openxmlformats.org/drawingml/2006/main">
            <a:off x="9010650" y="1524000"/>
            <a:ext cx="2571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Test cleaning changes</a:t>
            </a:r>
          </a:p>
        </p:txBody>
      </p:sp>
      <p:sp>
        <p:nvSpPr>
          <p:cNvPr id="5" name="">
            <a:extLst xmlns:a="http://schemas.openxmlformats.org/drawingml/2006/main">
              <a:ext uri="{FF2B5EF4-FFF2-40B4-BE49-F238E27FC236}">
                <a16:creationId xmlns:a16="http://schemas.microsoft.com/office/drawing/2014/main" id="{2CD13424-5889-41FB-BF13-A1614B1BEC73}"/>
              </a:ext>
            </a:extLst>
          </p:cNvPr>
          <p:cNvSpPr>
            <a:spLocks xmlns:a="http://schemas.openxmlformats.org/drawingml/2006/main" noGrp="1"/>
          </p:cNvSpPr>
          <p:nvPr/>
        </p:nvSpPr>
        <p:spPr>
          <a:xfrm xmlns:a="http://schemas.openxmlformats.org/drawingml/2006/main">
            <a:off x="9010650" y="2428875"/>
            <a:ext cx="2619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Compare nearby</a:t>
            </a:r>
          </a:p>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hawker coverage</a:t>
            </a:r>
          </a:p>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before funding support.</a:t>
            </a:r>
          </a:p>
        </p:txBody>
      </p:sp>
      <p:sp>
        <p:nvSpPr>
          <p:cNvPr id="6" name="">
            <a:extLst xmlns:a="http://schemas.openxmlformats.org/drawingml/2006/main">
              <a:ext uri="{FF2B5EF4-FFF2-40B4-BE49-F238E27FC236}">
                <a16:creationId xmlns:a16="http://schemas.microsoft.com/office/drawing/2014/main" id="{D8A3B873-6BF2-4800-AA94-607BC537FD85}"/>
              </a:ext>
            </a:extLst>
          </p:cNvPr>
          <p:cNvSpPr>
            <a:spLocks xmlns:a="http://schemas.openxmlformats.org/drawingml/2006/main" noGrp="1"/>
          </p:cNvSpPr>
          <p:nvPr/>
        </p:nvSpPr>
        <p:spPr>
          <a:xfrm xmlns:a="http://schemas.openxmlformats.org/drawingml/2006/main">
            <a:off x="9010650" y="3714750"/>
            <a:ext cx="2609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Inspect the assumptions</a:t>
            </a:r>
          </a:p>
        </p:txBody>
      </p:sp>
      <p:sp>
        <p:nvSpPr>
          <p:cNvPr id="7" name="">
            <a:extLst xmlns:a="http://schemas.openxmlformats.org/drawingml/2006/main">
              <a:ext uri="{FF2B5EF4-FFF2-40B4-BE49-F238E27FC236}">
                <a16:creationId xmlns:a16="http://schemas.microsoft.com/office/drawing/2014/main" id="{0FDB026E-BF0D-4072-B219-FCA486AFFA6F}"/>
              </a:ext>
            </a:extLst>
          </p:cNvPr>
          <p:cNvSpPr>
            <a:spLocks xmlns:a="http://schemas.openxmlformats.org/drawingml/2006/main" noGrp="1"/>
          </p:cNvSpPr>
          <p:nvPr/>
        </p:nvSpPr>
        <p:spPr>
          <a:xfrm xmlns:a="http://schemas.openxmlformats.org/drawingml/2006/main">
            <a:off x="9010650" y="4638675"/>
            <a:ext cx="2619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Census 2020</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800 m straight line</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Subzone points</a:t>
            </a:r>
          </a:p>
        </p:txBody>
      </p:sp>
      <p:sp>
        <p:nvSpPr>
          <p:cNvPr id="8" name="">
            <a:extLst xmlns:a="http://schemas.openxmlformats.org/drawingml/2006/main">
              <a:ext uri="{FF2B5EF4-FFF2-40B4-BE49-F238E27FC236}">
                <a16:creationId xmlns:a16="http://schemas.microsoft.com/office/drawing/2014/main" id="{74132815-34AA-41A8-91F5-FF23083BC729}"/>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Actual hosted application. Cleaning-date changes are hypothetical. Area exposure is a screening proxy.</a:t>
            </a:r>
          </a:p>
        </p:txBody>
      </p:sp>
    </p:spTree>
    <p:extLst>
      <p:ext uri="{BB962C8B-B14F-4D97-AF65-F5344CB8AC3E}">
        <p14:creationId xmlns:p14="http://schemas.microsoft.com/office/powerpoint/2010/main" val="166633752"/>
      </p:ext>
    </p:extLst>
  </p:cSld>
</p:sld>
</file>

<file path=ppt/slides/slide4.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F8AB3C-D4FC-4DB4-BFDE-B381903FC797}"/>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Five public sources, visible uncertainty</a:t>
            </a:r>
          </a:p>
        </p:txBody>
      </p:sp>
      <p:sp>
        <p:nvSpPr>
          <p:cNvPr id="2" name="">
            <a:extLst xmlns:a="http://schemas.openxmlformats.org/drawingml/2006/main">
              <a:ext uri="{FF2B5EF4-FFF2-40B4-BE49-F238E27FC236}">
                <a16:creationId xmlns:a16="http://schemas.microsoft.com/office/drawing/2014/main" id="{A07E1B2D-3264-4A33-9296-5C17F66EF7EA}"/>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571500" y="1428750"/>
          <a:ext xmlns:a="http://schemas.openxmlformats.org/drawingml/2006/main" cx="11049000" cy="3162300"/>
        </p:xfrm>
        <a:graphic xmlns:a="http://schemas.openxmlformats.org/drawingml/2006/main">
          <a:graphicData uri="http://schemas.openxmlformats.org/drawingml/2006/table">
            <a:tbl>
              <a:tblPr firstRow="0" bandRow="0"/>
              <a:tblGrid>
                <a:gridCol w="3143250"/>
                <a:gridCol w="3000375"/>
                <a:gridCol w="4905375"/>
              </a:tblGrid>
              <a:tr h="527050">
                <a:tc>
                  <a:txBody>
                    <a:bodyPr/>
                    <a:lstStyle/>
                    <a:p>
                      <a:r>
                        <a:rPr sz="1725" b="1">
                          <a:solidFill>
                            <a:srgbClr val="F7F6F0"/>
                          </a:solidFill>
                          <a:latin typeface="Helvetica Neue"/>
                          <a:ea typeface="Helvetica Neue"/>
                          <a:cs typeface="Helvetica Neue"/>
                        </a:rPr>
                        <a:t>Official source</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Coverage</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Role in the model</a:t>
                      </a:r>
                    </a:p>
                  </a:txBody>
                  <a:tcPr marL="142875" marR="142875" marT="95250" marB="95250" anchor="ctr">
                    <a:solidFill>
                      <a:srgbClr val="123B36"/>
                    </a:solidFill>
                  </a:tcPr>
                </a:tc>
              </a:tr>
              <a:tr h="527050">
                <a:tc>
                  <a:txBody>
                    <a:bodyPr/>
                    <a:lstStyle/>
                    <a:p>
                      <a:r>
                        <a:rPr sz="1725">
                          <a:solidFill>
                            <a:srgbClr val="173D35"/>
                          </a:solidFill>
                          <a:latin typeface="Helvetica Neue"/>
                          <a:ea typeface="Helvetica Neue"/>
                          <a:cs typeface="Helvetica Neue"/>
                        </a:rPr>
                        <a:t>NEA closure calendar</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2026, 123 centres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Dates, coordinates, stall counts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SingStat census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2020, 332 subzones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Resident and senior counts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URA planning areas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2019, 55 areas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Area scope and grouping</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URA subzones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2019, 332 boundaries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Geographic joins and points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SingStat / NEA waste</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2000–2025 national series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Context only</a:t>
                      </a:r>
                    </a:p>
                  </a:txBody>
                  <a:tcPr marL="142875" marR="142875" marT="95250" marB="95250" anchor="ctr">
                    <a:solidFill>
                      <a:srgbClr val="F7F6F0"/>
                    </a:solidFill>
                  </a:tcPr>
                </a:tc>
              </a:tr>
            </a:tbl>
          </a:graphicData>
        </a:graphic>
      </p:graphicFrame>
      <p:sp>
        <p:nvSpPr>
          <p:cNvPr id="4" name="">
            <a:extLst xmlns:a="http://schemas.openxmlformats.org/drawingml/2006/main">
              <a:ext uri="{FF2B5EF4-FFF2-40B4-BE49-F238E27FC236}">
                <a16:creationId xmlns:a16="http://schemas.microsoft.com/office/drawing/2014/main" id="{B5EE0BD8-C317-4A5B-9DC3-E5360A0B8CD1}"/>
              </a:ext>
            </a:extLst>
          </p:cNvPr>
          <p:cNvSpPr>
            <a:spLocks xmlns:a="http://schemas.openxmlformats.org/drawingml/2006/main" noGrp="1"/>
          </p:cNvSpPr>
          <p:nvPr/>
        </p:nvSpPr>
        <p:spPr>
          <a:xfrm xmlns:a="http://schemas.openxmlformats.org/drawingml/2006/main">
            <a:off x="571500" y="5038725"/>
            <a:ext cx="1666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173D35"/>
                </a:solidFill>
                <a:latin typeface="Helvetica Neue"/>
                <a:ea typeface="Helvetica Neue"/>
                <a:cs typeface="Helvetica Neue"/>
              </a:defRPr>
            </a:pPr>
            <a:r>
              <a:rPr sz="4350" b="1">
                <a:solidFill>
                  <a:srgbClr val="173D35"/>
                </a:solidFill>
                <a:latin typeface="Helvetica Neue"/>
                <a:ea typeface="Helvetica Neue"/>
                <a:cs typeface="Helvetica Neue"/>
              </a:rPr>
              <a:t>507</a:t>
            </a:r>
          </a:p>
        </p:txBody>
      </p:sp>
      <p:sp>
        <p:nvSpPr>
          <p:cNvPr id="5" name="">
            <a:extLst xmlns:a="http://schemas.openxmlformats.org/drawingml/2006/main">
              <a:ext uri="{FF2B5EF4-FFF2-40B4-BE49-F238E27FC236}">
                <a16:creationId xmlns:a16="http://schemas.microsoft.com/office/drawing/2014/main" id="{90330787-8B01-4F5B-AB80-ED2C73782A21}"/>
              </a:ext>
            </a:extLst>
          </p:cNvPr>
          <p:cNvSpPr>
            <a:spLocks xmlns:a="http://schemas.openxmlformats.org/drawingml/2006/main" noGrp="1"/>
          </p:cNvSpPr>
          <p:nvPr/>
        </p:nvSpPr>
        <p:spPr>
          <a:xfrm xmlns:a="http://schemas.openxmlformats.org/drawingml/2006/main">
            <a:off x="2190750" y="5229225"/>
            <a:ext cx="3571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73D35"/>
                </a:solidFill>
                <a:latin typeface="Helvetica Neue"/>
                <a:ea typeface="Helvetica Neue"/>
                <a:cs typeface="Helvetica Neue"/>
              </a:defRPr>
            </a:pPr>
            <a:r>
              <a:rPr sz="1800" b="0">
                <a:solidFill>
                  <a:srgbClr val="173D35"/>
                </a:solidFill>
                <a:latin typeface="Helvetica Neue"/>
                <a:ea typeface="Helvetica Neue"/>
                <a:cs typeface="Helvetica Neue"/>
              </a:rPr>
              <a:t>resolved closure intervals</a:t>
            </a:r>
          </a:p>
        </p:txBody>
      </p:sp>
      <p:sp>
        <p:nvSpPr>
          <p:cNvPr id="6" name="">
            <a:extLst xmlns:a="http://schemas.openxmlformats.org/drawingml/2006/main">
              <a:ext uri="{FF2B5EF4-FFF2-40B4-BE49-F238E27FC236}">
                <a16:creationId xmlns:a16="http://schemas.microsoft.com/office/drawing/2014/main" id="{0C6DB4A3-C70F-40D5-82F2-5551C0882D15}"/>
              </a:ext>
            </a:extLst>
          </p:cNvPr>
          <p:cNvSpPr>
            <a:spLocks xmlns:a="http://schemas.openxmlformats.org/drawingml/2006/main" noGrp="1"/>
          </p:cNvSpPr>
          <p:nvPr/>
        </p:nvSpPr>
        <p:spPr>
          <a:xfrm xmlns:a="http://schemas.openxmlformats.org/drawingml/2006/main">
            <a:off x="6762750" y="5038725"/>
            <a:ext cx="1333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C94C30"/>
                </a:solidFill>
                <a:latin typeface="Helvetica Neue"/>
                <a:ea typeface="Helvetica Neue"/>
                <a:cs typeface="Helvetica Neue"/>
              </a:defRPr>
            </a:pPr>
            <a:r>
              <a:rPr sz="4350" b="1">
                <a:solidFill>
                  <a:srgbClr val="C94C30"/>
                </a:solidFill>
                <a:latin typeface="Helvetica Neue"/>
                <a:ea typeface="Helvetica Neue"/>
                <a:cs typeface="Helvetica Neue"/>
              </a:rPr>
              <a:t>32</a:t>
            </a:r>
          </a:p>
        </p:txBody>
      </p:sp>
      <p:sp>
        <p:nvSpPr>
          <p:cNvPr id="7" name="">
            <a:extLst xmlns:a="http://schemas.openxmlformats.org/drawingml/2006/main">
              <a:ext uri="{FF2B5EF4-FFF2-40B4-BE49-F238E27FC236}">
                <a16:creationId xmlns:a16="http://schemas.microsoft.com/office/drawing/2014/main" id="{37BD8379-D2EA-4137-8E13-42E7FE2ED246}"/>
              </a:ext>
            </a:extLst>
          </p:cNvPr>
          <p:cNvSpPr>
            <a:spLocks xmlns:a="http://schemas.openxmlformats.org/drawingml/2006/main" noGrp="1"/>
          </p:cNvSpPr>
          <p:nvPr/>
        </p:nvSpPr>
        <p:spPr>
          <a:xfrm xmlns:a="http://schemas.openxmlformats.org/drawingml/2006/main">
            <a:off x="7877175" y="5229225"/>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73D35"/>
                </a:solidFill>
                <a:latin typeface="Helvetica Neue"/>
                <a:ea typeface="Helvetica Neue"/>
                <a:cs typeface="Helvetica Neue"/>
              </a:defRPr>
            </a:pPr>
            <a:r>
              <a:rPr sz="1800" b="0">
                <a:solidFill>
                  <a:srgbClr val="173D35"/>
                </a:solidFill>
                <a:latin typeface="Helvetica Neue"/>
                <a:ea typeface="Helvetica Neue"/>
                <a:cs typeface="Helvetica Neue"/>
              </a:rPr>
              <a:t>quarantined date records</a:t>
            </a:r>
          </a:p>
        </p:txBody>
      </p:sp>
      <p:sp>
        <p:nvSpPr>
          <p:cNvPr id="8" name="">
            <a:extLst xmlns:a="http://schemas.openxmlformats.org/drawingml/2006/main">
              <a:ext uri="{FF2B5EF4-FFF2-40B4-BE49-F238E27FC236}">
                <a16:creationId xmlns:a16="http://schemas.microsoft.com/office/drawing/2014/main" id="{30D8D772-740B-4463-8C05-5226BD90718A}"/>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Archived raw responses and SHA-256 provenance. Failed refreshes retain the last good publication.</a:t>
            </a:r>
          </a:p>
        </p:txBody>
      </p:sp>
    </p:spTree>
    <p:extLst>
      <p:ext uri="{BB962C8B-B14F-4D97-AF65-F5344CB8AC3E}">
        <p14:creationId xmlns:p14="http://schemas.microsoft.com/office/powerpoint/2010/main" val="30881187"/>
      </p:ext>
    </p:extLst>
  </p:cSld>
</p:sld>
</file>

<file path=ppt/slides/slide5.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0A572A-0AB7-46C5-AA8C-269A8ABBAC12}"/>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Databricks architecture</a:t>
            </a:r>
          </a:p>
        </p:txBody>
      </p:sp>
      <p:sp>
        <p:nvSpPr>
          <p:cNvPr id="2" name="">
            <a:extLst xmlns:a="http://schemas.openxmlformats.org/drawingml/2006/main">
              <a:ext uri="{FF2B5EF4-FFF2-40B4-BE49-F238E27FC236}">
                <a16:creationId xmlns:a16="http://schemas.microsoft.com/office/drawing/2014/main" id="{5B21F86A-8929-4D73-8C61-F6A312FB7D17}"/>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05</a:t>
            </a:r>
          </a:p>
        </p:txBody>
      </p:sp>
      <p:graphicFrame>
        <p:nvGraphicFramePr>
          <p:cNvPr id="9" name=""/>
          <p:cNvGraphicFramePr/>
          <p:nvPr/>
        </p:nvGraphicFramePr>
        <p:xfrm>
          <a:off xmlns:a="http://schemas.openxmlformats.org/drawingml/2006/main" x="571500" y="1428750"/>
          <a:ext xmlns:a="http://schemas.openxmlformats.org/drawingml/2006/main" cx="11049000" cy="3238500"/>
        </p:xfrm>
        <a:graphic xmlns:a="http://schemas.openxmlformats.org/drawingml/2006/main">
          <a:graphicData uri="http://schemas.openxmlformats.org/drawingml/2006/table">
            <a:tbl>
              <a:tblPr firstRow="0" bandRow="0"/>
              <a:tblGrid>
                <a:gridCol w="2095500"/>
                <a:gridCol w="3810000"/>
                <a:gridCol w="5143500"/>
              </a:tblGrid>
              <a:tr h="539750">
                <a:tc>
                  <a:txBody>
                    <a:bodyPr/>
                    <a:lstStyle/>
                    <a:p>
                      <a:r>
                        <a:rPr sz="1725" b="1">
                          <a:solidFill>
                            <a:srgbClr val="F7F6F0"/>
                          </a:solidFill>
                          <a:latin typeface="Helvetica Neue"/>
                          <a:ea typeface="Helvetica Neue"/>
                          <a:cs typeface="Helvetica Neue"/>
                        </a:rPr>
                        <a:t>Layer</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Databricks component</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What the run records</a:t>
                      </a:r>
                    </a:p>
                  </a:txBody>
                  <a:tcPr marL="142875" marR="142875" marT="95250" marB="95250" anchor="ctr">
                    <a:solidFill>
                      <a:srgbClr val="123B36"/>
                    </a:solidFill>
                  </a:tcPr>
                </a:tc>
              </a:tr>
              <a:tr h="539750">
                <a:tc>
                  <a:txBody>
                    <a:bodyPr/>
                    <a:lstStyle/>
                    <a:p>
                      <a:r>
                        <a:rPr sz="1725">
                          <a:solidFill>
                            <a:srgbClr val="173D35"/>
                          </a:solidFill>
                          <a:latin typeface="Helvetica Neue"/>
                          <a:ea typeface="Helvetica Neue"/>
                          <a:cs typeface="Helvetica Neue"/>
                        </a:rPr>
                        <a:t>Ingestion</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Serverless Lakeflow Job</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Official responses and checksums</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Bronze / Silver</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Delta tables in Unity Catalog</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Raw archive, typed rows, quarantine</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Gold</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Published snapshot and SQL views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Access model, allocations, audit</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Evaluation</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MLflow experiment</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Parameters and baseline comparisons</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Delivery</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Databricks App + Firebase site</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Same publication; private proposals</a:t>
                      </a:r>
                    </a:p>
                  </a:txBody>
                  <a:tcPr marL="142875" marR="142875" marT="95250" marB="95250" anchor="ctr">
                    <a:solidFill>
                      <a:srgbClr val="F7F6F0"/>
                    </a:solidFill>
                  </a:tcPr>
                </a:tc>
              </a:tr>
            </a:tbl>
          </a:graphicData>
        </a:graphic>
      </p:graphicFrame>
      <p:sp>
        <p:nvSpPr>
          <p:cNvPr id="4" name="">
            <a:extLst xmlns:a="http://schemas.openxmlformats.org/drawingml/2006/main">
              <a:ext uri="{FF2B5EF4-FFF2-40B4-BE49-F238E27FC236}">
                <a16:creationId xmlns:a16="http://schemas.microsoft.com/office/drawing/2014/main" id="{8557BE8C-C9FC-43B7-B5A4-DD213BAF0FD1}"/>
              </a:ext>
            </a:extLst>
          </p:cNvPr>
          <p:cNvSpPr>
            <a:spLocks xmlns:a="http://schemas.openxmlformats.org/drawingml/2006/main" noGrp="1"/>
          </p:cNvSpPr>
          <p:nvPr/>
        </p:nvSpPr>
        <p:spPr>
          <a:xfrm xmlns:a="http://schemas.openxmlformats.org/drawingml/2006/main">
            <a:off x="571500" y="5019675"/>
            <a:ext cx="1076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173D35"/>
                </a:solidFill>
                <a:latin typeface="Helvetica Neue"/>
                <a:ea typeface="Helvetica Neue"/>
                <a:cs typeface="Helvetica Neue"/>
              </a:defRPr>
            </a:pPr>
            <a:r>
              <a:rPr sz="2400" b="1">
                <a:solidFill>
                  <a:srgbClr val="173D35"/>
                </a:solidFill>
                <a:latin typeface="Helvetica Neue"/>
                <a:ea typeface="Helvetica Neue"/>
                <a:cs typeface="Helvetica Neue"/>
              </a:rPr>
              <a:t>Workspace execution verified</a:t>
            </a:r>
          </a:p>
        </p:txBody>
      </p:sp>
      <p:sp>
        <p:nvSpPr>
          <p:cNvPr id="5" name="">
            <a:extLst xmlns:a="http://schemas.openxmlformats.org/drawingml/2006/main">
              <a:ext uri="{FF2B5EF4-FFF2-40B4-BE49-F238E27FC236}">
                <a16:creationId xmlns:a16="http://schemas.microsoft.com/office/drawing/2014/main" id="{0730D696-838F-4FC9-836E-E53EF1F83EC8}"/>
              </a:ext>
            </a:extLst>
          </p:cNvPr>
          <p:cNvSpPr>
            <a:spLocks xmlns:a="http://schemas.openxmlformats.org/drawingml/2006/main" noGrp="1"/>
          </p:cNvSpPr>
          <p:nvPr/>
        </p:nvSpPr>
        <p:spPr>
          <a:xfrm xmlns:a="http://schemas.openxmlformats.org/drawingml/2006/main">
            <a:off x="571500" y="55816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12 quality gates. 9 cloud scenarios. Published data powers the public app.</a:t>
            </a:r>
          </a:p>
        </p:txBody>
      </p:sp>
      <p:sp>
        <p:nvSpPr>
          <p:cNvPr id="6" name="">
            <a:extLst xmlns:a="http://schemas.openxmlformats.org/drawingml/2006/main">
              <a:ext uri="{FF2B5EF4-FFF2-40B4-BE49-F238E27FC236}">
                <a16:creationId xmlns:a16="http://schemas.microsoft.com/office/drawing/2014/main" id="{51A65F3A-977A-4493-9584-4CAFEF6DF0EE}"/>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 publication record exposes completed outputs. A failed run cannot silently replace the current snapshot.</a:t>
            </a:r>
          </a:p>
        </p:txBody>
      </p:sp>
    </p:spTree>
    <p:extLst>
      <p:ext uri="{BB962C8B-B14F-4D97-AF65-F5344CB8AC3E}">
        <p14:creationId xmlns:p14="http://schemas.microsoft.com/office/powerpoint/2010/main" val="430130211"/>
      </p:ext>
    </p:extLst>
  </p:cSld>
</p:sld>
</file>

<file path=ppt/slides/slide6.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2690709-4233-413C-AD12-372709A647E7}"/>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Capacity limits the September 28 proposal</a:t>
            </a:r>
          </a:p>
        </p:txBody>
      </p:sp>
      <p:sp>
        <p:nvSpPr>
          <p:cNvPr id="2" name="">
            <a:extLst xmlns:a="http://schemas.openxmlformats.org/drawingml/2006/main">
              <a:ext uri="{FF2B5EF4-FFF2-40B4-BE49-F238E27FC236}">
                <a16:creationId xmlns:a16="http://schemas.microsoft.com/office/drawing/2014/main" id="{0FA1665D-2F6F-4AAB-A83D-EEA5FB912FB9}"/>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BC08DCDC-E3D9-4E0A-97FB-C4873C987195}"/>
              </a:ext>
            </a:extLst>
          </p:cNvPr>
          <p:cNvSpPr>
            <a:spLocks xmlns:a="http://schemas.openxmlformats.org/drawingml/2006/main" noGrp="1"/>
          </p:cNvSpPr>
          <p:nvPr/>
        </p:nvSpPr>
        <p:spPr>
          <a:xfrm xmlns:a="http://schemas.openxmlformats.org/drawingml/2006/main">
            <a:off x="571500" y="1285875"/>
            <a:ext cx="752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Objective improvement over largest-demand-first</a:t>
            </a:r>
          </a:p>
        </p:txBody>
      </p:sp>
      <p:graphicFrame>
        <p:nvGraphicFramePr>
          <p:cNvPr id="13" name="Chart"/>
          <p:cNvGraphicFramePr/>
          <p:nvPr/>
        </p:nvGraphicFramePr>
        <p:xfrm>
          <a:off xmlns:a="http://schemas.openxmlformats.org/drawingml/2006/main" x="419100" y="1752600"/>
          <a:ext xmlns:a="http://schemas.openxmlformats.org/drawingml/2006/main" cx="7239000" cy="3571875"/>
        </p:xfrm>
        <a:graphic xmlns:a="http://schemas.openxmlformats.org/drawingml/2006/main">
          <a:graphicData uri="http://schemas.openxmlformats.org/drawingml/2006/chart">
            <c:chart xmlns:r="http://schemas.openxmlformats.org/officeDocument/2006/relationships" xmlns:c="http://schemas.openxmlformats.org/drawingml/2006/chart" r:id="R3d614503e68847fa"/>
          </a:graphicData>
        </a:graphic>
      </p:graphicFrame>
      <p:sp>
        <p:nvSpPr>
          <p:cNvPr id="5" name="">
            <a:extLst xmlns:a="http://schemas.openxmlformats.org/drawingml/2006/main">
              <a:ext uri="{FF2B5EF4-FFF2-40B4-BE49-F238E27FC236}">
                <a16:creationId xmlns:a16="http://schemas.microsoft.com/office/drawing/2014/main" id="{7C0DEA47-AB77-4BC0-B628-30CBF5AF9742}"/>
              </a:ext>
            </a:extLst>
          </p:cNvPr>
          <p:cNvSpPr>
            <a:spLocks xmlns:a="http://schemas.openxmlformats.org/drawingml/2006/main" noGrp="1"/>
          </p:cNvSpPr>
          <p:nvPr/>
        </p:nvSpPr>
        <p:spPr>
          <a:xfrm xmlns:a="http://schemas.openxmlformats.org/drawingml/2006/main">
            <a:off x="8362950" y="1628775"/>
            <a:ext cx="32099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300" b="1">
                <a:solidFill>
                  <a:srgbClr val="C94C30"/>
                </a:solidFill>
                <a:latin typeface="Helvetica Neue"/>
                <a:ea typeface="Helvetica Neue"/>
                <a:cs typeface="Helvetica Neue"/>
              </a:defRPr>
            </a:pPr>
            <a:r>
              <a:rPr sz="6300" b="1">
                <a:solidFill>
                  <a:srgbClr val="C94C30"/>
                </a:solidFill>
                <a:latin typeface="Helvetica Neue"/>
                <a:ea typeface="Helvetica Neue"/>
                <a:cs typeface="Helvetica Neue"/>
              </a:rPr>
              <a:t>450</a:t>
            </a:r>
          </a:p>
        </p:txBody>
      </p:sp>
      <p:sp>
        <p:nvSpPr>
          <p:cNvPr id="6" name="">
            <a:extLst xmlns:a="http://schemas.openxmlformats.org/drawingml/2006/main">
              <a:ext uri="{FF2B5EF4-FFF2-40B4-BE49-F238E27FC236}">
                <a16:creationId xmlns:a16="http://schemas.microsoft.com/office/drawing/2014/main" id="{00AAA958-D216-4FEE-B608-670DB8D2428C}"/>
              </a:ext>
            </a:extLst>
          </p:cNvPr>
          <p:cNvSpPr>
            <a:spLocks xmlns:a="http://schemas.openxmlformats.org/drawingml/2006/main" noGrp="1"/>
          </p:cNvSpPr>
          <p:nvPr/>
        </p:nvSpPr>
        <p:spPr>
          <a:xfrm xmlns:a="http://schemas.openxmlformats.org/drawingml/2006/main">
            <a:off x="8401050" y="2705100"/>
            <a:ext cx="31051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planned meals at both</a:t>
            </a:r>
          </a:p>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S$3,000 and S$6,000</a:t>
            </a:r>
          </a:p>
        </p:txBody>
      </p:sp>
      <p:sp>
        <p:nvSpPr>
          <p:cNvPr id="7" name="">
            <a:extLst xmlns:a="http://schemas.openxmlformats.org/drawingml/2006/main">
              <a:ext uri="{FF2B5EF4-FFF2-40B4-BE49-F238E27FC236}">
                <a16:creationId xmlns:a16="http://schemas.microsoft.com/office/drawing/2014/main" id="{112A2F01-3BEB-4CF0-9297-795CA95F7574}"/>
              </a:ext>
            </a:extLst>
          </p:cNvPr>
          <p:cNvSpPr>
            <a:spLocks xmlns:a="http://schemas.openxmlformats.org/drawingml/2006/main" noGrp="1"/>
          </p:cNvSpPr>
          <p:nvPr/>
        </p:nvSpPr>
        <p:spPr>
          <a:xfrm xmlns:a="http://schemas.openxmlformats.org/drawingml/2006/main">
            <a:off x="8401050" y="3895725"/>
            <a:ext cx="30765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3 localities × 150 meals</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S$2,700 allocated</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More capacity changes the ceiling.</a:t>
            </a:r>
          </a:p>
        </p:txBody>
      </p:sp>
      <p:sp>
        <p:nvSpPr>
          <p:cNvPr id="8" name="">
            <a:extLst xmlns:a="http://schemas.openxmlformats.org/drawingml/2006/main">
              <a:ext uri="{FF2B5EF4-FFF2-40B4-BE49-F238E27FC236}">
                <a16:creationId xmlns:a16="http://schemas.microsoft.com/office/drawing/2014/main" id="{F4F5748D-5E81-4469-AD26-E769997DC4EB}"/>
              </a:ext>
            </a:extLst>
          </p:cNvPr>
          <p:cNvSpPr>
            <a:spLocks xmlns:a="http://schemas.openxmlformats.org/drawingml/2006/main" noGrp="1"/>
          </p:cNvSpPr>
          <p:nvPr/>
        </p:nvSpPr>
        <p:spPr>
          <a:xfrm xmlns:a="http://schemas.openxmlformats.org/drawingml/2006/main">
            <a:off x="571500" y="55054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173D35"/>
                </a:solidFill>
                <a:latin typeface="Helvetica Neue"/>
                <a:ea typeface="Helvetica Neue"/>
                <a:cs typeface="Helvetica Neue"/>
              </a:defRPr>
            </a:pPr>
            <a:r>
              <a:rPr sz="2025" b="1">
                <a:solidFill>
                  <a:srgbClr val="173D35"/>
                </a:solidFill>
                <a:latin typeface="Helvetica Neue"/>
                <a:ea typeface="Helvetica Neue"/>
                <a:cs typeface="Helvetica Neue"/>
              </a:rPr>
              <a:t>15 / 15 unique scenarios passed an independent constraint audit</a:t>
            </a:r>
          </a:p>
        </p:txBody>
      </p:sp>
      <p:sp>
        <p:nvSpPr>
          <p:cNvPr id="9" name="">
            <a:extLst xmlns:a="http://schemas.openxmlformats.org/drawingml/2006/main">
              <a:ext uri="{FF2B5EF4-FFF2-40B4-BE49-F238E27FC236}">
                <a16:creationId xmlns:a16="http://schemas.microsoft.com/office/drawing/2014/main" id="{66B92589-E950-4C2F-9388-C714164737F5}"/>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800 m, 5% uptake, S$4/meal, S$300 setup, 3 localities, 150 meals each, senior weight 2. Mixed-integer optimisation. Welfare outcomes remain unmeasured.</a:t>
            </a:r>
          </a:p>
        </p:txBody>
      </p:sp>
    </p:spTree>
    <p:extLst>
      <p:ext uri="{BB962C8B-B14F-4D97-AF65-F5344CB8AC3E}">
        <p14:creationId xmlns:p14="http://schemas.microsoft.com/office/powerpoint/2010/main" val="392514333"/>
      </p:ext>
    </p:extLst>
  </p:cSld>
</p:sld>
</file>

<file path=ppt/slides/slide7.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D5C6F4-AB82-4056-9105-E421284551A0}"/>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A proposal carries its assumptions into review</a:t>
            </a:r>
          </a:p>
        </p:txBody>
      </p:sp>
      <p:sp>
        <p:nvSpPr>
          <p:cNvPr id="2" name="">
            <a:extLst xmlns:a="http://schemas.openxmlformats.org/drawingml/2006/main">
              <a:ext uri="{FF2B5EF4-FFF2-40B4-BE49-F238E27FC236}">
                <a16:creationId xmlns:a16="http://schemas.microsoft.com/office/drawing/2014/main" id="{5019849C-A96E-4C5B-87DB-2D268FC7F572}"/>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07</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f2d260e8cf444d82"/>
          <a:stretch xmlns:a="http://schemas.openxmlformats.org/drawingml/2006/main"/>
        </p:blipFill>
        <p:spPr>
          <a:xfrm xmlns:a="http://schemas.openxmlformats.org/drawingml/2006/main">
            <a:off x="5244625" y="1419225"/>
            <a:ext cx="6179501" cy="44481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BD4E167-B824-4145-A92F-4471BA19FADE}"/>
              </a:ext>
            </a:extLst>
          </p:cNvPr>
          <p:cNvSpPr>
            <a:spLocks xmlns:a="http://schemas.openxmlformats.org/drawingml/2006/main" noGrp="1"/>
          </p:cNvSpPr>
          <p:nvPr/>
        </p:nvSpPr>
        <p:spPr>
          <a:xfrm xmlns:a="http://schemas.openxmlformats.org/drawingml/2006/main">
            <a:off x="571500" y="1590675"/>
            <a:ext cx="39814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173D35"/>
                </a:solidFill>
                <a:latin typeface="Helvetica Neue"/>
                <a:ea typeface="Helvetica Neue"/>
                <a:cs typeface="Helvetica Neue"/>
              </a:defRPr>
            </a:pPr>
            <a:r>
              <a:rPr sz="2325" b="1">
                <a:solidFill>
                  <a:srgbClr val="173D35"/>
                </a:solidFill>
                <a:latin typeface="Helvetica Neue"/>
                <a:ea typeface="Helvetica Neue"/>
                <a:cs typeface="Helvetica Neue"/>
              </a:rPr>
              <a:t>Before any service runs</a:t>
            </a:r>
          </a:p>
        </p:txBody>
      </p:sp>
      <p:sp>
        <p:nvSpPr>
          <p:cNvPr id="5" name="">
            <a:extLst xmlns:a="http://schemas.openxmlformats.org/drawingml/2006/main">
              <a:ext uri="{FF2B5EF4-FFF2-40B4-BE49-F238E27FC236}">
                <a16:creationId xmlns:a16="http://schemas.microsoft.com/office/drawing/2014/main" id="{98D65793-10D8-4234-A024-83DA3B74DDB0}"/>
              </a:ext>
            </a:extLst>
          </p:cNvPr>
          <p:cNvSpPr>
            <a:spLocks xmlns:a="http://schemas.openxmlformats.org/drawingml/2006/main" noGrp="1"/>
          </p:cNvSpPr>
          <p:nvPr/>
        </p:nvSpPr>
        <p:spPr>
          <a:xfrm xmlns:a="http://schemas.openxmlformats.org/drawingml/2006/main">
            <a:off x="571500" y="2590800"/>
            <a:ext cx="3905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Confirm resident need</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accessible routes.</a:t>
            </a:r>
          </a:p>
        </p:txBody>
      </p:sp>
      <p:sp>
        <p:nvSpPr>
          <p:cNvPr id="6" name="">
            <a:extLst xmlns:a="http://schemas.openxmlformats.org/drawingml/2006/main">
              <a:ext uri="{FF2B5EF4-FFF2-40B4-BE49-F238E27FC236}">
                <a16:creationId xmlns:a16="http://schemas.microsoft.com/office/drawing/2014/main" id="{BD8C0F6F-0E31-4A08-915E-680FE618A9CD}"/>
              </a:ext>
            </a:extLst>
          </p:cNvPr>
          <p:cNvSpPr>
            <a:spLocks xmlns:a="http://schemas.openxmlformats.org/drawingml/2006/main" noGrp="1"/>
          </p:cNvSpPr>
          <p:nvPr/>
        </p:nvSpPr>
        <p:spPr>
          <a:xfrm xmlns:a="http://schemas.openxmlformats.org/drawingml/2006/main">
            <a:off x="571500" y="3676650"/>
            <a:ext cx="3905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Verify the venue, operator,</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meal cost and capacity.</a:t>
            </a:r>
          </a:p>
        </p:txBody>
      </p:sp>
      <p:sp>
        <p:nvSpPr>
          <p:cNvPr id="7" name="">
            <a:extLst xmlns:a="http://schemas.openxmlformats.org/drawingml/2006/main">
              <a:ext uri="{FF2B5EF4-FFF2-40B4-BE49-F238E27FC236}">
                <a16:creationId xmlns:a16="http://schemas.microsoft.com/office/drawing/2014/main" id="{8C6F12A8-E2FE-4EE3-8E93-EEB49E1D20EB}"/>
              </a:ext>
            </a:extLst>
          </p:cNvPr>
          <p:cNvSpPr>
            <a:spLocks xmlns:a="http://schemas.openxmlformats.org/drawingml/2006/main" noGrp="1"/>
          </p:cNvSpPr>
          <p:nvPr/>
        </p:nvSpPr>
        <p:spPr>
          <a:xfrm xmlns:a="http://schemas.openxmlformats.org/drawingml/2006/main">
            <a:off x="571500" y="4762500"/>
            <a:ext cx="3952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Save the decision record.</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Export PDF, CSV or JSON.</a:t>
            </a:r>
          </a:p>
        </p:txBody>
      </p:sp>
      <p:sp>
        <p:nvSpPr>
          <p:cNvPr id="8" name="">
            <a:extLst xmlns:a="http://schemas.openxmlformats.org/drawingml/2006/main">
              <a:ext uri="{FF2B5EF4-FFF2-40B4-BE49-F238E27FC236}">
                <a16:creationId xmlns:a16="http://schemas.microsoft.com/office/drawing/2014/main" id="{EB772861-DA9D-44E5-ACA0-2B1616190BC6}"/>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Browser-test proposal. A review flag does not book a venue, approve an agency service or dispatch meals.</a:t>
            </a:r>
          </a:p>
        </p:txBody>
      </p:sp>
    </p:spTree>
    <p:extLst>
      <p:ext uri="{BB962C8B-B14F-4D97-AF65-F5344CB8AC3E}">
        <p14:creationId xmlns:p14="http://schemas.microsoft.com/office/powerpoint/2010/main" val="2022684139"/>
      </p:ext>
    </p:extLst>
  </p:cSld>
</p:sld>
</file>

<file path=ppt/slides/slide8.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D3864D-1F1F-417F-8A7E-9D881DD4B831}"/>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One operator pilot tests the business</a:t>
            </a:r>
          </a:p>
        </p:txBody>
      </p:sp>
      <p:sp>
        <p:nvSpPr>
          <p:cNvPr id="2" name="">
            <a:extLst xmlns:a="http://schemas.openxmlformats.org/drawingml/2006/main">
              <a:ext uri="{FF2B5EF4-FFF2-40B4-BE49-F238E27FC236}">
                <a16:creationId xmlns:a16="http://schemas.microsoft.com/office/drawing/2014/main" id="{6B2A91AD-F090-4EFD-8509-27A804126115}"/>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C7FB6E67-72ED-48C8-A985-6373E91E8E94}"/>
              </a:ext>
            </a:extLst>
          </p:cNvPr>
          <p:cNvSpPr>
            <a:spLocks xmlns:a="http://schemas.openxmlformats.org/drawingml/2006/main" noGrp="1"/>
          </p:cNvSpPr>
          <p:nvPr/>
        </p:nvSpPr>
        <p:spPr>
          <a:xfrm xmlns:a="http://schemas.openxmlformats.org/drawingml/2006/main">
            <a:off x="571500" y="1390650"/>
            <a:ext cx="5143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Buyer hypothesis</a:t>
            </a:r>
          </a:p>
        </p:txBody>
      </p:sp>
      <p:sp>
        <p:nvSpPr>
          <p:cNvPr id="4" name="">
            <a:extLst xmlns:a="http://schemas.openxmlformats.org/drawingml/2006/main">
              <a:ext uri="{FF2B5EF4-FFF2-40B4-BE49-F238E27FC236}">
                <a16:creationId xmlns:a16="http://schemas.microsoft.com/office/drawing/2014/main" id="{31211F71-BEE2-4611-BF13-2ABE1ED99782}"/>
              </a:ext>
            </a:extLst>
          </p:cNvPr>
          <p:cNvSpPr>
            <a:spLocks xmlns:a="http://schemas.openxmlformats.org/drawingml/2006/main" noGrp="1"/>
          </p:cNvSpPr>
          <p:nvPr/>
        </p:nvSpPr>
        <p:spPr>
          <a:xfrm xmlns:a="http://schemas.openxmlformats.org/drawingml/2006/main">
            <a:off x="571500" y="1895475"/>
            <a:ext cx="647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75" b="1">
                <a:solidFill>
                  <a:srgbClr val="173D35"/>
                </a:solidFill>
                <a:latin typeface="Helvetica Neue"/>
                <a:ea typeface="Helvetica Neue"/>
                <a:cs typeface="Helvetica Neue"/>
              </a:defRPr>
            </a:pPr>
            <a:r>
              <a:rPr sz="2775" b="1">
                <a:solidFill>
                  <a:srgbClr val="173D35"/>
                </a:solidFill>
                <a:latin typeface="Helvetica Neue"/>
                <a:ea typeface="Helvetica Neue"/>
                <a:cs typeface="Helvetica Neue"/>
              </a:rPr>
              <a:t>Estate operators and funded</a:t>
            </a:r>
          </a:p>
          <a:p xmlns:a="http://schemas.openxmlformats.org/drawingml/2006/main">
            <a:pPr>
              <a:defRPr sz="2775" b="1">
                <a:solidFill>
                  <a:srgbClr val="173D35"/>
                </a:solidFill>
                <a:latin typeface="Helvetica Neue"/>
                <a:ea typeface="Helvetica Neue"/>
                <a:cs typeface="Helvetica Neue"/>
              </a:defRPr>
            </a:pPr>
            <a:r>
              <a:rPr sz="2775" b="1">
                <a:solidFill>
                  <a:srgbClr val="173D35"/>
                </a:solidFill>
                <a:latin typeface="Helvetica Neue"/>
                <a:ea typeface="Helvetica Neue"/>
                <a:cs typeface="Helvetica Neue"/>
              </a:rPr>
              <a:t>community organisations</a:t>
            </a:r>
          </a:p>
        </p:txBody>
      </p:sp>
      <p:sp>
        <p:nvSpPr>
          <p:cNvPr id="5" name="">
            <a:extLst xmlns:a="http://schemas.openxmlformats.org/drawingml/2006/main">
              <a:ext uri="{FF2B5EF4-FFF2-40B4-BE49-F238E27FC236}">
                <a16:creationId xmlns:a16="http://schemas.microsoft.com/office/drawing/2014/main" id="{802AF2A9-C443-4542-BAB3-E02DCBB13746}"/>
              </a:ext>
            </a:extLst>
          </p:cNvPr>
          <p:cNvSpPr>
            <a:spLocks xmlns:a="http://schemas.openxmlformats.org/drawingml/2006/main" noGrp="1"/>
          </p:cNvSpPr>
          <p:nvPr/>
        </p:nvSpPr>
        <p:spPr>
          <a:xfrm xmlns:a="http://schemas.openxmlformats.org/drawingml/2006/main">
            <a:off x="571500" y="3114675"/>
            <a:ext cx="6743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The paid job: prepare a reliable closure plan</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reduce coordination time.</a:t>
            </a:r>
          </a:p>
        </p:txBody>
      </p:sp>
      <p:sp>
        <p:nvSpPr>
          <p:cNvPr id="6" name="">
            <a:extLst xmlns:a="http://schemas.openxmlformats.org/drawingml/2006/main">
              <a:ext uri="{FF2B5EF4-FFF2-40B4-BE49-F238E27FC236}">
                <a16:creationId xmlns:a16="http://schemas.microsoft.com/office/drawing/2014/main" id="{043C3A91-E671-4492-A169-2DA6EA018A93}"/>
              </a:ext>
            </a:extLst>
          </p:cNvPr>
          <p:cNvSpPr>
            <a:spLocks xmlns:a="http://schemas.openxmlformats.org/drawingml/2006/main" noGrp="1"/>
          </p:cNvSpPr>
          <p:nvPr/>
        </p:nvSpPr>
        <p:spPr>
          <a:xfrm xmlns:a="http://schemas.openxmlformats.org/drawingml/2006/main">
            <a:off x="8115300" y="1495425"/>
            <a:ext cx="3429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C94C30"/>
                </a:solidFill>
                <a:latin typeface="Helvetica Neue"/>
                <a:ea typeface="Helvetica Neue"/>
                <a:cs typeface="Helvetica Neue"/>
              </a:defRPr>
            </a:pPr>
            <a:r>
              <a:rPr sz="4350" b="1">
                <a:solidFill>
                  <a:srgbClr val="C94C30"/>
                </a:solidFill>
                <a:latin typeface="Helvetica Neue"/>
                <a:ea typeface="Helvetica Neue"/>
                <a:cs typeface="Helvetica Neue"/>
              </a:rPr>
              <a:t>S$1,000</a:t>
            </a:r>
          </a:p>
        </p:txBody>
      </p:sp>
      <p:sp>
        <p:nvSpPr>
          <p:cNvPr id="7" name="">
            <a:extLst xmlns:a="http://schemas.openxmlformats.org/drawingml/2006/main">
              <a:ext uri="{FF2B5EF4-FFF2-40B4-BE49-F238E27FC236}">
                <a16:creationId xmlns:a16="http://schemas.microsoft.com/office/drawing/2014/main" id="{2B74F353-50A7-4714-85EE-8067EB03A9A8}"/>
              </a:ext>
            </a:extLst>
          </p:cNvPr>
          <p:cNvSpPr>
            <a:spLocks xmlns:a="http://schemas.openxmlformats.org/drawingml/2006/main" noGrp="1"/>
          </p:cNvSpPr>
          <p:nvPr/>
        </p:nvSpPr>
        <p:spPr>
          <a:xfrm xmlns:a="http://schemas.openxmlformats.org/drawingml/2006/main">
            <a:off x="8153400" y="2276475"/>
            <a:ext cx="3162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73D35"/>
                </a:solidFill>
                <a:latin typeface="Helvetica Neue"/>
                <a:ea typeface="Helvetica Neue"/>
                <a:cs typeface="Helvetica Neue"/>
              </a:defRPr>
            </a:pPr>
            <a:r>
              <a:rPr sz="2025" b="0">
                <a:solidFill>
                  <a:srgbClr val="173D35"/>
                </a:solidFill>
                <a:latin typeface="Helvetica Neue"/>
                <a:ea typeface="Helvetica Neue"/>
                <a:cs typeface="Helvetica Neue"/>
              </a:rPr>
              <a:t>scoped pilot</a:t>
            </a:r>
          </a:p>
        </p:txBody>
      </p:sp>
      <p:sp>
        <p:nvSpPr>
          <p:cNvPr id="8" name="">
            <a:extLst xmlns:a="http://schemas.openxmlformats.org/drawingml/2006/main">
              <a:ext uri="{FF2B5EF4-FFF2-40B4-BE49-F238E27FC236}">
                <a16:creationId xmlns:a16="http://schemas.microsoft.com/office/drawing/2014/main" id="{E4D7CAAF-3AFE-4E26-9C8A-84D61778F4B9}"/>
              </a:ext>
            </a:extLst>
          </p:cNvPr>
          <p:cNvSpPr>
            <a:spLocks xmlns:a="http://schemas.openxmlformats.org/drawingml/2006/main" noGrp="1"/>
          </p:cNvSpPr>
          <p:nvPr/>
        </p:nvSpPr>
        <p:spPr>
          <a:xfrm xmlns:a="http://schemas.openxmlformats.org/drawingml/2006/main">
            <a:off x="8115300" y="3143250"/>
            <a:ext cx="3476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525" b="1">
                <a:solidFill>
                  <a:srgbClr val="173D35"/>
                </a:solidFill>
                <a:latin typeface="Helvetica Neue"/>
                <a:ea typeface="Helvetica Neue"/>
                <a:cs typeface="Helvetica Neue"/>
              </a:defRPr>
            </a:pPr>
            <a:r>
              <a:rPr sz="3525" b="1">
                <a:solidFill>
                  <a:srgbClr val="173D35"/>
                </a:solidFill>
                <a:latin typeface="Helvetica Neue"/>
                <a:ea typeface="Helvetica Neue"/>
                <a:cs typeface="Helvetica Neue"/>
              </a:rPr>
              <a:t>S$250–500</a:t>
            </a:r>
          </a:p>
        </p:txBody>
      </p:sp>
      <p:sp>
        <p:nvSpPr>
          <p:cNvPr id="9" name="">
            <a:extLst xmlns:a="http://schemas.openxmlformats.org/drawingml/2006/main">
              <a:ext uri="{FF2B5EF4-FFF2-40B4-BE49-F238E27FC236}">
                <a16:creationId xmlns:a16="http://schemas.microsoft.com/office/drawing/2014/main" id="{A7BAFE05-1929-4F84-89CA-5A673CAC76E7}"/>
              </a:ext>
            </a:extLst>
          </p:cNvPr>
          <p:cNvSpPr>
            <a:spLocks xmlns:a="http://schemas.openxmlformats.org/drawingml/2006/main" noGrp="1"/>
          </p:cNvSpPr>
          <p:nvPr/>
        </p:nvSpPr>
        <p:spPr>
          <a:xfrm xmlns:a="http://schemas.openxmlformats.org/drawingml/2006/main">
            <a:off x="8153400" y="3895725"/>
            <a:ext cx="3181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monthly organisation</a:t>
            </a:r>
          </a:p>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subscription hypothesis</a:t>
            </a:r>
          </a:p>
        </p:txBody>
      </p:sp>
      <p:sp>
        <p:nvSpPr>
          <p:cNvPr id="10" name="">
            <a:extLst xmlns:a="http://schemas.openxmlformats.org/drawingml/2006/main">
              <a:ext uri="{FF2B5EF4-FFF2-40B4-BE49-F238E27FC236}">
                <a16:creationId xmlns:a16="http://schemas.microsoft.com/office/drawing/2014/main" id="{B294D0CE-79E2-4349-81FC-551874B9FC35}"/>
              </a:ext>
            </a:extLst>
          </p:cNvPr>
          <p:cNvSpPr>
            <a:spLocks xmlns:a="http://schemas.openxmlformats.org/drawingml/2006/main" noGrp="1"/>
          </p:cNvSpPr>
          <p:nvPr/>
        </p:nvSpPr>
        <p:spPr>
          <a:xfrm xmlns:a="http://schemas.openxmlformats.org/drawingml/2006/main">
            <a:off x="571500" y="4857750"/>
            <a:ext cx="10744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The data is public. Defensibility would come from verified capacity</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a workflow operators choose to reuse.</a:t>
            </a:r>
          </a:p>
        </p:txBody>
      </p:sp>
      <p:sp>
        <p:nvSpPr>
          <p:cNvPr id="11" name="">
            <a:extLst xmlns:a="http://schemas.openxmlformats.org/drawingml/2006/main">
              <a:ext uri="{FF2B5EF4-FFF2-40B4-BE49-F238E27FC236}">
                <a16:creationId xmlns:a16="http://schemas.microsoft.com/office/drawing/2014/main" id="{B3C93D02-D0AA-4D69-9978-B107D1A7D9F2}"/>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No customers or willingness-to-pay validation yet. Commercial use needs paid hosting. The current product requires no LLM API.</a:t>
            </a:r>
          </a:p>
        </p:txBody>
      </p:sp>
    </p:spTree>
    <p:extLst>
      <p:ext uri="{BB962C8B-B14F-4D97-AF65-F5344CB8AC3E}">
        <p14:creationId xmlns:p14="http://schemas.microsoft.com/office/powerpoint/2010/main" val="160543436"/>
      </p:ext>
    </p:extLst>
  </p:cSld>
</p:sld>
</file>

<file path=ppt/slides/slide9.xml><?xml version="1.0" encoding="utf-8"?>
<p:sld xmlns:p="http://schemas.openxmlformats.org/presentationml/2006/main">
  <p:cSld>
    <p:bg>
      <p:bgPr>
        <a:solidFill xmlns:a="http://schemas.openxmlformats.org/drawingml/2006/main">
          <a:srgbClr val="123B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EE01D0-0BE9-411B-B513-E452D6E90ACA}"/>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F7F6F0"/>
                </a:solidFill>
                <a:latin typeface="Helvetica Neue"/>
                <a:ea typeface="Helvetica Neue"/>
                <a:cs typeface="Helvetica Neue"/>
              </a:defRPr>
            </a:pPr>
            <a:r>
              <a:rPr sz="3300" b="1">
                <a:solidFill>
                  <a:srgbClr val="F7F6F0"/>
                </a:solidFill>
                <a:latin typeface="Helvetica Neue"/>
                <a:ea typeface="Helvetica Neue"/>
                <a:cs typeface="Helvetica Neue"/>
              </a:rPr>
              <a:t>The next test is an operator’s decision</a:t>
            </a:r>
          </a:p>
        </p:txBody>
      </p:sp>
      <p:sp>
        <p:nvSpPr>
          <p:cNvPr id="2" name="">
            <a:extLst xmlns:a="http://schemas.openxmlformats.org/drawingml/2006/main">
              <a:ext uri="{FF2B5EF4-FFF2-40B4-BE49-F238E27FC236}">
                <a16:creationId xmlns:a16="http://schemas.microsoft.com/office/drawing/2014/main" id="{CE163C2F-59A2-4F8B-BFF1-C27B341FEACA}"/>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AFC1A4"/>
                </a:solidFill>
                <a:latin typeface="Helvetica Neue"/>
                <a:ea typeface="Helvetica Neue"/>
                <a:cs typeface="Helvetica Neue"/>
              </a:defRPr>
            </a:pPr>
            <a:r>
              <a:rPr sz="1125" b="0">
                <a:solidFill>
                  <a:srgbClr val="AFC1A4"/>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B1D731EF-5D5A-4853-9B5A-BAC4336ACF05}"/>
              </a:ext>
            </a:extLst>
          </p:cNvPr>
          <p:cNvSpPr>
            <a:spLocks xmlns:a="http://schemas.openxmlformats.org/drawingml/2006/main" noGrp="1"/>
          </p:cNvSpPr>
          <p:nvPr/>
        </p:nvSpPr>
        <p:spPr>
          <a:xfrm xmlns:a="http://schemas.openxmlformats.org/drawingml/2006/main">
            <a:off x="571500" y="1714500"/>
            <a:ext cx="53911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1 operator</a:t>
            </a:r>
          </a:p>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1 scheduled closure</a:t>
            </a:r>
          </a:p>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4–6 weeks</a:t>
            </a:r>
          </a:p>
        </p:txBody>
      </p:sp>
      <p:sp>
        <p:nvSpPr>
          <p:cNvPr id="4" name="">
            <a:extLst xmlns:a="http://schemas.openxmlformats.org/drawingml/2006/main">
              <a:ext uri="{FF2B5EF4-FFF2-40B4-BE49-F238E27FC236}">
                <a16:creationId xmlns:a16="http://schemas.microsoft.com/office/drawing/2014/main" id="{984D704D-4482-47ED-8717-9C9E75E48D7A}"/>
              </a:ext>
            </a:extLst>
          </p:cNvPr>
          <p:cNvSpPr>
            <a:spLocks xmlns:a="http://schemas.openxmlformats.org/drawingml/2006/main" noGrp="1"/>
          </p:cNvSpPr>
          <p:nvPr/>
        </p:nvSpPr>
        <p:spPr>
          <a:xfrm xmlns:a="http://schemas.openxmlformats.org/drawingml/2006/main">
            <a:off x="7038975" y="1647825"/>
            <a:ext cx="441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AFC1A4"/>
                </a:solidFill>
                <a:latin typeface="Helvetica Neue"/>
                <a:ea typeface="Helvetica Neue"/>
                <a:cs typeface="Helvetica Neue"/>
              </a:defRPr>
            </a:pPr>
            <a:r>
              <a:rPr sz="1875" b="0">
                <a:solidFill>
                  <a:srgbClr val="AFC1A4"/>
                </a:solidFill>
                <a:latin typeface="Helvetica Neue"/>
                <a:ea typeface="Helvetica Neue"/>
                <a:cs typeface="Helvetica Neue"/>
              </a:rPr>
              <a:t>Prospective pilot target</a:t>
            </a:r>
          </a:p>
        </p:txBody>
      </p:sp>
      <p:sp>
        <p:nvSpPr>
          <p:cNvPr id="5" name="">
            <a:extLst xmlns:a="http://schemas.openxmlformats.org/drawingml/2006/main">
              <a:ext uri="{FF2B5EF4-FFF2-40B4-BE49-F238E27FC236}">
                <a16:creationId xmlns:a16="http://schemas.microsoft.com/office/drawing/2014/main" id="{609FFF8C-EB34-4771-BE2F-0471DE17FEC7}"/>
              </a:ext>
            </a:extLst>
          </p:cNvPr>
          <p:cNvSpPr>
            <a:spLocks xmlns:a="http://schemas.openxmlformats.org/drawingml/2006/main" noGrp="1"/>
          </p:cNvSpPr>
          <p:nvPr/>
        </p:nvSpPr>
        <p:spPr>
          <a:xfrm xmlns:a="http://schemas.openxmlformats.org/drawingml/2006/main">
            <a:off x="7029450" y="2247900"/>
            <a:ext cx="4495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525" b="1">
                <a:solidFill>
                  <a:srgbClr val="F7F6F0"/>
                </a:solidFill>
                <a:latin typeface="Helvetica Neue"/>
                <a:ea typeface="Helvetica Neue"/>
                <a:cs typeface="Helvetica Neue"/>
              </a:defRPr>
            </a:pPr>
            <a:r>
              <a:rPr sz="6525" b="1">
                <a:solidFill>
                  <a:srgbClr val="F7F6F0"/>
                </a:solidFill>
                <a:latin typeface="Helvetica Neue"/>
                <a:ea typeface="Helvetica Neue"/>
                <a:cs typeface="Helvetica Neue"/>
              </a:rPr>
              <a:t>30%</a:t>
            </a:r>
          </a:p>
        </p:txBody>
      </p:sp>
      <p:sp>
        <p:nvSpPr>
          <p:cNvPr id="6" name="">
            <a:extLst xmlns:a="http://schemas.openxmlformats.org/drawingml/2006/main">
              <a:ext uri="{FF2B5EF4-FFF2-40B4-BE49-F238E27FC236}">
                <a16:creationId xmlns:a16="http://schemas.microsoft.com/office/drawing/2014/main" id="{A6E3E74F-48CA-43D0-8B89-FF5D2B3F2F0B}"/>
              </a:ext>
            </a:extLst>
          </p:cNvPr>
          <p:cNvSpPr>
            <a:spLocks xmlns:a="http://schemas.openxmlformats.org/drawingml/2006/main" noGrp="1"/>
          </p:cNvSpPr>
          <p:nvPr/>
        </p:nvSpPr>
        <p:spPr>
          <a:xfrm xmlns:a="http://schemas.openxmlformats.org/drawingml/2006/main">
            <a:off x="7067550" y="3505200"/>
            <a:ext cx="4191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less preparation time,</a:t>
            </a:r>
          </a:p>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with no increase in critical omissions</a:t>
            </a:r>
          </a:p>
        </p:txBody>
      </p:sp>
      <p:sp>
        <p:nvSpPr>
          <p:cNvPr id="7" name="">
            <a:extLst xmlns:a="http://schemas.openxmlformats.org/drawingml/2006/main">
              <a:ext uri="{FF2B5EF4-FFF2-40B4-BE49-F238E27FC236}">
                <a16:creationId xmlns:a16="http://schemas.microsoft.com/office/drawing/2014/main" id="{109571A4-CC71-4BCA-BCC4-09411FCEC687}"/>
              </a:ext>
            </a:extLst>
          </p:cNvPr>
          <p:cNvSpPr>
            <a:spLocks xmlns:a="http://schemas.openxmlformats.org/drawingml/2006/main" noGrp="1"/>
          </p:cNvSpPr>
          <p:nvPr/>
        </p:nvSpPr>
        <p:spPr>
          <a:xfrm xmlns:a="http://schemas.openxmlformats.org/drawingml/2006/main">
            <a:off x="571500" y="4914900"/>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Every venue verified before use.</a:t>
            </a:r>
          </a:p>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Support time and repeat payment measured.</a:t>
            </a:r>
          </a:p>
        </p:txBody>
      </p:sp>
      <p:sp>
        <p:nvSpPr>
          <p:cNvPr id="8" name="">
            <a:extLst xmlns:a="http://schemas.openxmlformats.org/drawingml/2006/main">
              <a:ext uri="{FF2B5EF4-FFF2-40B4-BE49-F238E27FC236}">
                <a16:creationId xmlns:a16="http://schemas.microsoft.com/office/drawing/2014/main" id="{BBD1D77F-9176-4B05-A2FD-22D135758391}"/>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AFC1A4"/>
                </a:solidFill>
                <a:latin typeface="Helvetica Neue"/>
                <a:ea typeface="Helvetica Neue"/>
                <a:cs typeface="Helvetica Neue"/>
              </a:defRPr>
            </a:pPr>
            <a:r>
              <a:rPr sz="1125" b="0">
                <a:solidFill>
                  <a:srgbClr val="AFC1A4"/>
                </a:solidFill>
                <a:latin typeface="Helvetica Neue"/>
                <a:ea typeface="Helvetica Neue"/>
                <a:cs typeface="Helvetica Neue"/>
              </a:rPr>
              <a:t>Targets remain unachieved. Shivam Gupta owns the project. github.com/shi1720/DAISI</a:t>
            </a:r>
          </a:p>
        </p:txBody>
      </p:sp>
    </p:spTree>
    <p:extLst>
      <p:ext uri="{BB962C8B-B14F-4D97-AF65-F5344CB8AC3E}">
        <p14:creationId xmlns:p14="http://schemas.microsoft.com/office/powerpoint/2010/main" val="431236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2026-09-22T06:53:41.0330000Z</dcterms:created>
  <dcterms:modified xsi:type="dcterms:W3CDTF">2026-09-22T06:53:41.0330000Z</dcterms:modified>
</coreProperties>
</file>