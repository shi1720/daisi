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b578ea824a4fa1" /><Relationship Type="http://schemas.openxmlformats.org/officeDocument/2006/relationships/extended-properties" Target="/docProps/app.xml" Id="Rc6b52d3a871a4f50" /><Relationship Type="http://schemas.openxmlformats.org/officeDocument/2006/relationships/officeDocument" Target="/ppt/presentation.xml" Id="Rc574e1b7b1db41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a55ca209764a71"/>
  </p:sldMasterIdLst>
  <p:notesMasterIdLst>
    <p:notesMasterId xmlns:r="http://schemas.openxmlformats.org/officeDocument/2006/relationships" r:id="R4d918cbbb4ab4cdf"/>
  </p:notesMasterIdLst>
  <p:sldIdLst>
    <p:sldId xmlns:r="http://schemas.openxmlformats.org/officeDocument/2006/relationships" id="256" r:id="R743c3869df054fc2"/>
    <p:sldId xmlns:r="http://schemas.openxmlformats.org/officeDocument/2006/relationships" id="257" r:id="Re8246cb206d94bbc"/>
    <p:sldId xmlns:r="http://schemas.openxmlformats.org/officeDocument/2006/relationships" id="258" r:id="R97e92146020b4e84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bb35d6c0794ed3" /><Relationship Type="http://schemas.openxmlformats.org/officeDocument/2006/relationships/slideMaster" Target="/ppt/slideMasters/slideMaster1.xml" Id="R73a55ca209764a71" /><Relationship Type="http://schemas.openxmlformats.org/officeDocument/2006/relationships/notesMaster" Target="/ppt/notesMasters/notesMaster1.xml" Id="R4d918cbbb4ab4cdf" /><Relationship Type="http://schemas.openxmlformats.org/officeDocument/2006/relationships/presProps" Target="/ppt/presProps.xml" Id="Rca7b54ed0e3448d9" /><Relationship Type="http://schemas.openxmlformats.org/officeDocument/2006/relationships/viewProps" Target="/ppt/viewProps.xml" Id="R2986f31c63ed49be" /><Relationship Type="http://schemas.openxmlformats.org/officeDocument/2006/relationships/tableStyles" Target="/ppt/tableStyles.xml" Id="R3277993c90cf49d5" /><Relationship Type="http://schemas.openxmlformats.org/officeDocument/2006/relationships/slide" Target="/ppt/slides/slide1.xml" Id="R743c3869df054fc2" /><Relationship Type="http://schemas.openxmlformats.org/officeDocument/2006/relationships/slide" Target="/ppt/slides/slide2.xml" Id="Re8246cb206d94bbc" /><Relationship Type="http://schemas.openxmlformats.org/officeDocument/2006/relationships/slide" Target="/ppt/slides/slide3.xml" Id="R97e92146020b4e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c4e52108f14b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5b6101f93f4aab" /><Relationship Type="http://schemas.openxmlformats.org/officeDocument/2006/relationships/notesMaster" Target="/ppt/notesMasters/notesMaster1.xml" Id="Rb33f2692e91946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6b23541e3a4b34" /><Relationship Type="http://schemas.openxmlformats.org/officeDocument/2006/relationships/notesMaster" Target="/ppt/notesMasters/notesMaster1.xml" Id="R530bd865184844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22f3b597a04a2d" /><Relationship Type="http://schemas.openxmlformats.org/officeDocument/2006/relationships/notesMaster" Target="/ppt/notesMasters/notesMaster1.xml" Id="R546d0cc7b8e04f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NEA Dates of Hawker Centre Closures, https://data.gov.sg/datasets/d_bda4baa634dd1cc7a6c7cad5f19e2d68/view . Counts recomputed from the 22 Sep 2026 snapshot for 28 Sep 2026. No claim of food insecurity is inferred. Town council scheduling role: https://www.nea.gov.sg/our-services/hawker-management/announcements . Team institution/course/year/email are required separately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NEA closure dataset d_bda4baa634dd1cc7a6c7cad5f19e2d68; Census 2020 age and subzone population d_d95ae740c0f8961a0b10435836660ce0; URA planning areas d_4765db0e87b9c86336792efe8a1f7a66 and subzones d_8594ae9ff96d0c708bc2af633048edfb; NEA waste d_daf568968ab40dc81e7b08887a83c8fa. All data.gov.sg. Spatial model uses geographic representative points, not population centroids or walking routes. Closure discovery already exists in myENV and public products; the differentiation is coordinator planning.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real Databricks live run published governed tables after 12 quality checks and 9 MLflow scenarios. Three tabular sources were fetched live; two checksum-verified URA archives retained their original timestamps. See submission/deployment-status.json and data/processed/databricks-publication.json. The separate local robustness benchmark has 15 scenarios. Free Edition is for non-commercial learning/prototyping: https://daisi.online/guide and https://docs.databricks.com/aws/en/getting-started/free-edition-limitations . Pilot targets and pricing are unvalidated. AI-assisted development is disclosed in the repository; project owner and presenter is Shivam Gupta.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89f8d21b894acf" /><Relationship Type="http://schemas.openxmlformats.org/officeDocument/2006/relationships/notesSlide" Target="/ppt/notesSlides/notesSlide1.xml" Id="R87b77632cef14f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1c1e4171394234" /><Relationship Type="http://schemas.openxmlformats.org/officeDocument/2006/relationships/notesSlide" Target="/ppt/notesSlides/notesSlide2.xml" Id="R81e89344e3f84c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ed781a26b54a8a" /><Relationship Type="http://schemas.openxmlformats.org/officeDocument/2006/relationships/notesSlide" Target="/ppt/notesSlides/notesSlide3.xml" Id="Ra3a663ac35f1414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72E5FB-AC6F-48C7-8F12-0465CE51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2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6E9D5E4-43BF-439F-9487-BDB57221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400" b="1">
                <a:solidFill>
                  <a:srgbClr val="FF3621"/>
                </a:solidFill>
                <a:latin typeface="Arial"/>
                <a:ea typeface="Arial"/>
                <a:cs typeface="Arial"/>
              </a:rPr>
              <a:t>SLIDE 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9B415DA-19B9-48DB-90F4-39AE84BD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3400" b="1">
                <a:solidFill>
                  <a:srgbClr val="112530"/>
                </a:solidFill>
                <a:latin typeface="Arial"/>
                <a:ea typeface="Arial"/>
                <a:cs typeface="Arial"/>
              </a:rPr>
              <a:t>Problem &amp; why it matters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A4AAC3-5D89-47A5-919D-9AC4E670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10789920" cy="405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  <a:buNone/>
              <a:defRPr sz="160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Team name:</a:t>
            </a:r>
            <a:r>
              <a:rPr sz="1600">
                <a:solidFill>
                  <a:srgbClr val="526773"/>
                </a:solidFill>
                <a:latin typeface="Arial"/>
                <a:ea typeface="Arial"/>
                <a:cs typeface="Arial"/>
              </a:rPr>
              <a:t> HawkerBridge     Project owner: Shivam Gupta</a:t>
            </a:r>
          </a:p>
          <a:p xmlns:a="http://schemas.openxmlformats.org/drawingml/2006/main"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  <a:buNone/>
              <a:defRPr sz="160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Problem statement:</a:t>
            </a:r>
            <a:r>
              <a:rPr sz="1600">
                <a:solidFill>
                  <a:srgbClr val="526773"/>
                </a:solidFill>
                <a:latin typeface="Arial"/>
                <a:ea typeface="Arial"/>
                <a:cs typeface="Arial"/>
              </a:rPr>
              <a:t> C3 - KopilamAI: hawker culture and food access</a:t>
            </a:r>
          </a:p>
          <a:p xmlns:a="http://schemas.openxmlformats.org/drawingml/2006/main"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  <a:buNone/>
              <a:defRPr sz="160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The problem:</a:t>
            </a:r>
            <a:r>
              <a:rPr sz="1600">
                <a:solidFill>
                  <a:srgbClr val="526773"/>
                </a:solidFill>
                <a:latin typeface="Arial"/>
                <a:ea typeface="Arial"/>
                <a:cs typeface="Arial"/>
              </a:rPr>
              <a:t> A closure notice does not tell a community coordinator which neighbourhoods need temporary meal support, or how to use a limited budget.</a:t>
            </a:r>
          </a:p>
          <a:p xmlns:a="http://schemas.openxmlformats.org/drawingml/2006/main"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  <a:buNone/>
              <a:defRPr sz="160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Who is affected:</a:t>
            </a:r>
            <a:r>
              <a:rPr sz="1600">
                <a:solidFill>
                  <a:srgbClr val="526773"/>
                </a:solidFill>
                <a:latin typeface="Arial"/>
                <a:ea typeface="Arial"/>
                <a:cs typeface="Arial"/>
              </a:rPr>
              <a:t> Residents who rely on nearby hawker food, especially seniors. On 28 September, 17 listed centres with 1,025 food stalls have scheduled closures. These are infrastructure counts, not measured hungry residents.</a:t>
            </a:r>
          </a:p>
          <a:p xmlns:a="http://schemas.openxmlformats.org/drawingml/2006/main"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  <a:buNone/>
              <a:defRPr sz="160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Why now:</a:t>
            </a:r>
            <a:r>
              <a:rPr sz="1600">
                <a:solidFill>
                  <a:srgbClr val="526773"/>
                </a:solidFill>
                <a:latin typeface="Arial"/>
                <a:ea typeface="Arial"/>
                <a:cs typeface="Arial"/>
              </a:rPr>
              <a:t> Cleaning and renovation closures are known ahead of time. Town councils can compare cleaning dates and prepare support before a neighbourhood loses access.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AC91C7F-7747-4D63-B45C-3522245F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26364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100" b="0">
                <a:solidFill>
                  <a:srgbClr val="6B7A84"/>
                </a:solidFill>
                <a:latin typeface="Arial"/>
                <a:ea typeface="Arial"/>
                <a:cs typeface="Arial"/>
              </a:rPr>
              <a:t>DAISI Challenge Singapore 2026 · Round 1 template · keep to 3 slides, export as PDF</a:t>
            </a:r>
          </a:p>
        </p:txBody>
      </p:sp>
    </p:spTree>
    <p:extLst>
      <p:ext uri="{BB962C8B-B14F-4D97-AF65-F5344CB8AC3E}">
        <p14:creationId xmlns:p14="http://schemas.microsoft.com/office/powerpoint/2010/main" val="7239701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FBC552B-06D3-4E1B-B6AC-168790DF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2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565453-DDED-43BF-B708-93B11769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400" b="1">
                <a:solidFill>
                  <a:srgbClr val="FF3621"/>
                </a:solidFill>
                <a:latin typeface="Arial"/>
                <a:ea typeface="Arial"/>
                <a:cs typeface="Arial"/>
              </a:rPr>
              <a:t>SLIDE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A4CDE82-D28A-42B2-A16D-DA1603D5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3400" b="1">
                <a:solidFill>
                  <a:srgbClr val="112530"/>
                </a:solidFill>
                <a:latin typeface="Arial"/>
                <a:ea typeface="Arial"/>
                <a:cs typeface="Arial"/>
              </a:rPr>
              <a:t>Solution &amp; data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66C7F8B-BCBA-456A-AEF2-59574B54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10789920" cy="405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  <a:buNone/>
              <a:defRPr sz="160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The solution:</a:t>
            </a:r>
            <a:r>
              <a:rPr sz="1600">
                <a:solidFill>
                  <a:srgbClr val="526773"/>
                </a:solidFill>
                <a:latin typeface="Arial"/>
                <a:ea typeface="Arial"/>
                <a:cs typeface="Arial"/>
              </a:rPr>
              <a:t> A closure continuity desk that compares dates and proposes a budgeted, reviewable meal-support plan for neighbourhoods flagged by an access model.</a:t>
            </a:r>
          </a:p>
          <a:p xmlns:a="http://schemas.openxmlformats.org/drawingml/2006/main"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  <a:buNone/>
              <a:defRPr sz="160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The user:</a:t>
            </a:r>
            <a:r>
              <a:rPr sz="1600">
                <a:solidFill>
                  <a:srgbClr val="526773"/>
                </a:solidFill>
                <a:latin typeface="Arial"/>
                <a:ea typeface="Arial"/>
                <a:cs typeface="Arial"/>
              </a:rPr>
              <a:t> A town council planner or community meal coordinator chooses a date, planning area and budget, checks alternatives, then exports a plan for human review.</a:t>
            </a:r>
          </a:p>
          <a:p xmlns:a="http://schemas.openxmlformats.org/drawingml/2006/main"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  <a:buNone/>
              <a:defRPr sz="160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Data from data.gov.sg:</a:t>
            </a:r>
            <a:r>
              <a:rPr sz="1600">
                <a:solidFill>
                  <a:srgbClr val="526773"/>
                </a:solidFill>
                <a:latin typeface="Arial"/>
                <a:ea typeface="Arial"/>
                <a:cs typeface="Arial"/>
              </a:rPr>
              <a:t> NEA closure dates, centre locations and stall counts (2026). SingStat Census 2020 population by subzone and age, joined to URA 2019 boundaries. NEA annual food-waste data supplies national context only, never local demand labels.</a:t>
            </a:r>
          </a:p>
          <a:p xmlns:a="http://schemas.openxmlformats.org/drawingml/2006/main"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  <a:buNone/>
              <a:defRPr sz="160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What differs:</a:t>
            </a:r>
            <a:r>
              <a:rPr sz="1600">
                <a:solidFill>
                  <a:srgbClr val="526773"/>
                </a:solidFill>
                <a:latin typeface="Arial"/>
                <a:ea typeface="Arial"/>
                <a:cs typeface="Arial"/>
              </a:rPr>
              <a:t> Counterfactual cleaning-date comparisons and constrained allocation, with explicit costs, capacity, source provenance and uncertainty. Every allocation has an explicit objective and a comparison baseline.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17EDCBC-A8E6-478E-87D0-088D04E3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26364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100" b="0">
                <a:solidFill>
                  <a:srgbClr val="6B7A84"/>
                </a:solidFill>
                <a:latin typeface="Arial"/>
                <a:ea typeface="Arial"/>
                <a:cs typeface="Arial"/>
              </a:rPr>
              <a:t>DAISI Challenge Singapore 2026 · Round 1 template · keep to 3 slides, export as PDF</a:t>
            </a:r>
          </a:p>
        </p:txBody>
      </p:sp>
    </p:spTree>
    <p:extLst>
      <p:ext uri="{BB962C8B-B14F-4D97-AF65-F5344CB8AC3E}">
        <p14:creationId xmlns:p14="http://schemas.microsoft.com/office/powerpoint/2010/main" val="5113743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3777F4C-90DF-4A5F-8988-95E8FC2B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2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FDBD155-150F-434D-BB4B-7F03665F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400" b="1">
                <a:solidFill>
                  <a:srgbClr val="FF3621"/>
                </a:solidFill>
                <a:latin typeface="Arial"/>
                <a:ea typeface="Arial"/>
                <a:cs typeface="Arial"/>
              </a:rPr>
              <a:t>SLIDE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29B9065-EE59-4D80-8AE3-6F33BAA4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3400" b="1">
                <a:solidFill>
                  <a:srgbClr val="112530"/>
                </a:solidFill>
                <a:latin typeface="Arial"/>
                <a:ea typeface="Arial"/>
                <a:cs typeface="Arial"/>
              </a:rPr>
              <a:t>Databricks architecture &amp; impact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4C3A33A-6B1D-42A0-8CA3-8AF0D49A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10789920" cy="405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  <a:buNone/>
              <a:defRPr sz="160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Working platform:</a:t>
            </a:r>
            <a:r>
              <a:rPr sz="1600">
                <a:solidFill>
                  <a:srgbClr val="526773"/>
                </a:solidFill>
                <a:latin typeface="Arial"/>
                <a:ea typeface="Arial"/>
                <a:cs typeface="Arial"/>
              </a:rPr>
              <a:t> Public APIs / Lakeflow Job / Bronze raw Delta / Silver validated closures and population / Gold access model and allocation / Databricks Apps. Unity Catalog governs tables. MLflow records the optimiser's baseline comparisons.</a:t>
            </a:r>
          </a:p>
          <a:p xmlns:a="http://schemas.openxmlformats.org/drawingml/2006/main"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  <a:buNone/>
              <a:defRPr sz="160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Demo:</a:t>
            </a:r>
            <a:r>
              <a:rPr sz="1600">
                <a:solidFill>
                  <a:srgbClr val="526773"/>
                </a:solidFill>
                <a:latin typeface="Arial"/>
                <a:ea typeface="Arial"/>
                <a:cs typeface="Arial"/>
              </a:rPr>
              <a:t> hawkerbridge-sg.web.app offers private plans and PDF export. A live Databricks job passed 12 quality gates and recorded 9 MLflow scenarios, with a SQL dashboard.</a:t>
            </a:r>
          </a:p>
          <a:p xmlns:a="http://schemas.openxmlformats.org/drawingml/2006/main"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  <a:buNone/>
              <a:defRPr sz="160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Impact to test:</a:t>
            </a:r>
            <a:r>
              <a:rPr sz="1600">
                <a:solidFill>
                  <a:srgbClr val="526773"/>
                </a:solidFill>
                <a:latin typeface="Arial"/>
                <a:ea typeface="Arial"/>
                <a:cs typeface="Arial"/>
              </a:rPr>
              <a:t> Fewer coordinator hours per closure and fewer residents reporting lost meal access. Pilot targets: reduce planning time by 30% and verify every proposed site. A funded pilot and organisation subscription are commercial hypotheses, not sales.</a:t>
            </a:r>
          </a:p>
          <a:p xmlns:a="http://schemas.openxmlformats.org/drawingml/2006/main">
            <a:pPr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  <a:buNone/>
              <a:defRPr sz="160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Next sprint:</a:t>
            </a:r>
            <a:r>
              <a:rPr sz="1600">
                <a:solidFill>
                  <a:srgbClr val="526773"/>
                </a:solidFill>
                <a:latin typeface="Arial"/>
                <a:ea typeface="Arial"/>
                <a:cs typeface="Arial"/>
              </a:rPr>
              <a:t> Validate locations with a coordinator, measure planning time and repeat use, then test a paid pilot. Current prices and impact targets are hypotheses.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063C419-2BFC-47B0-BD20-96CA123E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26364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100" b="0">
                <a:solidFill>
                  <a:srgbClr val="6B7A84"/>
                </a:solidFill>
                <a:latin typeface="Arial"/>
                <a:ea typeface="Arial"/>
                <a:cs typeface="Arial"/>
              </a:rPr>
              <a:t>DAISI Challenge Singapore 2026 · Round 1 template · keep to 3 slides, export as PDF</a:t>
            </a:r>
          </a:p>
        </p:txBody>
      </p:sp>
    </p:spTree>
    <p:extLst>
      <p:ext uri="{BB962C8B-B14F-4D97-AF65-F5344CB8AC3E}">
        <p14:creationId xmlns:p14="http://schemas.microsoft.com/office/powerpoint/2010/main" val="1878887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2026-09-22T06:28:38.2750000Z</dcterms:created>
  <dcterms:modified xsi:type="dcterms:W3CDTF">2026-09-22T06:28:38.2750000Z</dcterms:modified>
</coreProperties>
</file>