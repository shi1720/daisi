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bacb2da483482f" /><Relationship Type="http://schemas.openxmlformats.org/officeDocument/2006/relationships/extended-properties" Target="/docProps/app.xml" Id="R1e678b7ba5e04789" /><Relationship Type="http://schemas.openxmlformats.org/officeDocument/2006/relationships/officeDocument" Target="/ppt/presentation.xml" Id="R9630112db5db4b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f15efc309d415e"/>
  </p:sldMasterIdLst>
  <p:notesMasterIdLst>
    <p:notesMasterId xmlns:r="http://schemas.openxmlformats.org/officeDocument/2006/relationships" r:id="Rabcd435c2b674905"/>
  </p:notesMasterIdLst>
  <p:sldIdLst>
    <p:sldId xmlns:r="http://schemas.openxmlformats.org/officeDocument/2006/relationships" id="256" r:id="Ra979dcfc14e3497a"/>
    <p:sldId xmlns:r="http://schemas.openxmlformats.org/officeDocument/2006/relationships" id="257" r:id="Rdd75f4882a234a3f"/>
    <p:sldId xmlns:r="http://schemas.openxmlformats.org/officeDocument/2006/relationships" id="258" r:id="R488fff60e9804497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9214cb1e56446d" /><Relationship Type="http://schemas.openxmlformats.org/officeDocument/2006/relationships/slideMaster" Target="/ppt/slideMasters/slideMaster1.xml" Id="R78f15efc309d415e" /><Relationship Type="http://schemas.openxmlformats.org/officeDocument/2006/relationships/notesMaster" Target="/ppt/notesMasters/notesMaster1.xml" Id="Rabcd435c2b674905" /><Relationship Type="http://schemas.openxmlformats.org/officeDocument/2006/relationships/presProps" Target="/ppt/presProps.xml" Id="R2959545f796e46a7" /><Relationship Type="http://schemas.openxmlformats.org/officeDocument/2006/relationships/viewProps" Target="/ppt/viewProps.xml" Id="R53c00b3a18e14b65" /><Relationship Type="http://schemas.openxmlformats.org/officeDocument/2006/relationships/tableStyles" Target="/ppt/tableStyles.xml" Id="R3f655baedc77443f" /><Relationship Type="http://schemas.openxmlformats.org/officeDocument/2006/relationships/slide" Target="/ppt/slides/slide1.xml" Id="Ra979dcfc14e3497a" /><Relationship Type="http://schemas.openxmlformats.org/officeDocument/2006/relationships/slide" Target="/ppt/slides/slide2.xml" Id="Rdd75f4882a234a3f" /><Relationship Type="http://schemas.openxmlformats.org/officeDocument/2006/relationships/slide" Target="/ppt/slides/slide3.xml" Id="R488fff60e98044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199be9838d42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26a535ee374601" /><Relationship Type="http://schemas.openxmlformats.org/officeDocument/2006/relationships/notesMaster" Target="/ppt/notesMasters/notesMaster1.xml" Id="R7a6a1a92f2d84e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51e661097549d4" /><Relationship Type="http://schemas.openxmlformats.org/officeDocument/2006/relationships/notesMaster" Target="/ppt/notesMasters/notesMaster1.xml" Id="Rac17d087caee43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736c1354c9b4271" /><Relationship Type="http://schemas.openxmlformats.org/officeDocument/2006/relationships/notesMaster" Target="/ppt/notesMasters/notesMaster1.xml" Id="Rcfddc40e18e74b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NEA Dates of Hawker Centre Closures, https://data.gov.sg/datasets/d_bda4baa634dd1cc7a6c7cad5f19e2d68/view . Counts recomputed from the 22 Sep 2026 snapshot for 28 Sep 2026. No claim of food insecurity is inferred. Town council scheduling role: https://www.nea.gov.sg/our-services/hawker-management/announcements . Team institution/course/year/email are required separately before submission.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NEA closure dataset d_bda4baa634dd1cc7a6c7cad5f19e2d68; Census 2020 age and subzone population d_d95ae740c0f8961a0b10435836660ce0; URA planning areas d_4765db0e87b9c86336792efe8a1f7a66 and subzones d_8594ae9ff96d0c708bc2af633048edfb; NEA waste d_daf568968ab40dc81e7b08887a83c8fa. All data.gov.sg. Spatial model uses geographic representative points, not population centroids or walking routes. Closure discovery already exists in myENV and public products; the differentiation is coordinator planning.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is implemented as a deployment package and locally tested but requires a verified Databricks workspace run before final submission. Free Edition is for non-commercial learning/prototyping: https://daisi.online/guide and https://docs.databricks.com/aws/en/getting-started/free-edition-limitations . Pilot targets and pricing are unvalidated. AI-assisted development is disclosed in the repository; project owner and presenter is Shivam Gupta.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0cc34ebe9e41a0" /><Relationship Type="http://schemas.openxmlformats.org/officeDocument/2006/relationships/notesSlide" Target="/ppt/notesSlides/notesSlide1.xml" Id="Re3394868222140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576dd4ed0ff480d" /><Relationship Type="http://schemas.openxmlformats.org/officeDocument/2006/relationships/notesSlide" Target="/ppt/notesSlides/notesSlide2.xml" Id="R5eaad6ad0f1b4f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d237c50aaa4dd9" /><Relationship Type="http://schemas.openxmlformats.org/officeDocument/2006/relationships/notesSlide" Target="/ppt/notesSlides/notesSlide3.xml" Id="Re3f6d9b94ac24ca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DFF43DA-92D5-48AE-BD7E-457CF86F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62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F5417FB-6FB1-474F-82E1-7996BE59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400" b="1">
                <a:solidFill>
                  <a:srgbClr val="FF3621"/>
                </a:solidFill>
                <a:latin typeface="Arial"/>
                <a:ea typeface="Arial"/>
                <a:cs typeface="Arial"/>
              </a:rPr>
              <a:t>SLIDE 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F18916A-9FC4-4367-AEB8-07987D40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60120"/>
            <a:ext cx="10789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3400" b="1">
                <a:solidFill>
                  <a:srgbClr val="112530"/>
                </a:solidFill>
                <a:latin typeface="Arial"/>
                <a:ea typeface="Arial"/>
                <a:cs typeface="Arial"/>
              </a:rPr>
              <a:t>Problem &amp; why it matters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30560C3-27D6-418C-960D-BD7FEDC7B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0240"/>
            <a:ext cx="10789920" cy="4053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Team name: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HawkerBridge     Project owner: Shivam Gupta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Problem statement: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C3 - KopilamAI: hawker culture and food access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The problem: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A closure notice does not tell a community coordinator which neighbourhoods need temporary meal support, or how to use a limited budget.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Who is affected: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Residents who rely on nearby hawker food, especially seniors. On 28 September, 17 listed centres with 1,025 food stalls have scheduled closures. These are infrastructure counts, not measured hungry residents.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Why now: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Cleaning and renovation closures are known ahead of time. Town councils can compare cleaning dates and prepare support before a neighbourhood loses access.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9871BDB-01AC-4E2F-9AE6-04B4730E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263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100" b="0">
                <a:solidFill>
                  <a:srgbClr val="6B7A84"/>
                </a:solidFill>
                <a:latin typeface="Arial"/>
                <a:ea typeface="Arial"/>
                <a:cs typeface="Arial"/>
              </a:rPr>
              <a:t>DAISI Challenge Singapore 2026 · Round 1 template · keep to 3 slides, export as PDF</a:t>
            </a:r>
          </a:p>
        </p:txBody>
      </p:sp>
    </p:spTree>
    <p:extLst>
      <p:ext uri="{BB962C8B-B14F-4D97-AF65-F5344CB8AC3E}">
        <p14:creationId xmlns:p14="http://schemas.microsoft.com/office/powerpoint/2010/main" val="186690586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9DC7D3C-06C3-49BD-AD31-F70C6080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62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F06C1A1-00AA-4801-A83C-0FF97EBE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400" b="1">
                <a:solidFill>
                  <a:srgbClr val="FF3621"/>
                </a:solidFill>
                <a:latin typeface="Arial"/>
                <a:ea typeface="Arial"/>
                <a:cs typeface="Arial"/>
              </a:rPr>
              <a:t>SLIDE 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DDFB0C0-DD98-47F8-9F4C-6D5A3C19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60120"/>
            <a:ext cx="10789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3400" b="1">
                <a:solidFill>
                  <a:srgbClr val="112530"/>
                </a:solidFill>
                <a:latin typeface="Arial"/>
                <a:ea typeface="Arial"/>
                <a:cs typeface="Arial"/>
              </a:rPr>
              <a:t>Solution &amp; data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D842432-A248-4BE9-9A82-115D7863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0240"/>
            <a:ext cx="10789920" cy="4053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The solution: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A closure continuity desk that compares dates and proposes a budgeted, reviewable meal-support plan for neighbourhoods flagged by an access model.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The user: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A town council planner or community meal coordinator chooses a date, planning area and budget, checks alternatives, then exports a plan for human review.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Data from data.gov.sg: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NEA closure dates, centre locations and stall counts (2026). SingStat Census 2020 population by subzone and age, joined to URA 2019 boundaries. NEA annual food-waste data supplies national context only, never local demand labels.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What differs: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Counterfactual cleaning-date comparisons and constrained allocation, with explicit costs, capacity, source provenance and uncertainty. Every allocation has an explicit objective and a comparison baseline.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C36471E-5CC8-438C-80A1-7ED48048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263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100" b="0">
                <a:solidFill>
                  <a:srgbClr val="6B7A84"/>
                </a:solidFill>
                <a:latin typeface="Arial"/>
                <a:ea typeface="Arial"/>
                <a:cs typeface="Arial"/>
              </a:rPr>
              <a:t>DAISI Challenge Singapore 2026 · Round 1 template · keep to 3 slides, export as PDF</a:t>
            </a:r>
          </a:p>
        </p:txBody>
      </p:sp>
    </p:spTree>
    <p:extLst>
      <p:ext uri="{BB962C8B-B14F-4D97-AF65-F5344CB8AC3E}">
        <p14:creationId xmlns:p14="http://schemas.microsoft.com/office/powerpoint/2010/main" val="21001038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9154F79-63C4-4190-B03E-CE04626C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62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3C83012-8ADE-457A-BB38-47014919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400" b="1">
                <a:solidFill>
                  <a:srgbClr val="FF3621"/>
                </a:solidFill>
                <a:latin typeface="Arial"/>
                <a:ea typeface="Arial"/>
                <a:cs typeface="Arial"/>
              </a:rPr>
              <a:t>SLIDE 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9B4E841-B929-4E03-A5B2-ACD2B7E4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60120"/>
            <a:ext cx="10789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3400" b="1">
                <a:solidFill>
                  <a:srgbClr val="112530"/>
                </a:solidFill>
                <a:latin typeface="Arial"/>
                <a:ea typeface="Arial"/>
                <a:cs typeface="Arial"/>
              </a:rPr>
              <a:t>Databricks architecture &amp; impact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CBD2591-B197-44C3-8ACC-5B30FCEE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0240"/>
            <a:ext cx="10789920" cy="4053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Intended platform: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Public APIs / Lakeflow Job / Bronze raw Delta / Silver validated closures and population / Gold access model and allocation / Databricks Apps. Unity Catalog governs tables. MLflow records the optimiser's baseline comparisons.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Demo: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An authenticated map, closure calendar, scope and budget controls, a saved plan with PDF export, plus a notebook run and a governed SQL evidence dashboard.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Impact to test: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Fewer coordinator hours per closure and fewer residents reporting lost meal access. Pilot targets: reduce planning time by 30% and verify every proposed site. A funded pilot and organisation subscription are commercial hypotheses, not sales.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Two-week sprint: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Deploy the tested local pipeline to Free Edition, validate locations with a coordinator, benchmark allocations and rehearse. Paid hosting follows a pilot.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D41F0D-961C-470A-98E7-6557AAC6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263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100" b="0">
                <a:solidFill>
                  <a:srgbClr val="6B7A84"/>
                </a:solidFill>
                <a:latin typeface="Arial"/>
                <a:ea typeface="Arial"/>
                <a:cs typeface="Arial"/>
              </a:rPr>
              <a:t>DAISI Challenge Singapore 2026 · Round 1 template · keep to 3 slides, export as PDF</a:t>
            </a:r>
          </a:p>
        </p:txBody>
      </p:sp>
    </p:spTree>
    <p:extLst>
      <p:ext uri="{BB962C8B-B14F-4D97-AF65-F5344CB8AC3E}">
        <p14:creationId xmlns:p14="http://schemas.microsoft.com/office/powerpoint/2010/main" val="139815769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2026-09-22T04:55:22.6340000Z</dcterms:created>
  <dcterms:modified xsi:type="dcterms:W3CDTF">2026-09-22T04:55:22.6340000Z</dcterms:modified>
</coreProperties>
</file>