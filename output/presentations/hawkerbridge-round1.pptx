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5ea902caf145a5" /><Relationship Type="http://schemas.openxmlformats.org/officeDocument/2006/relationships/extended-properties" Target="/docProps/app.xml" Id="Ra975183da9134896" /><Relationship Type="http://schemas.openxmlformats.org/officeDocument/2006/relationships/officeDocument" Target="/ppt/presentation.xml" Id="R2f36c8ab73b74b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b73eba690f44b9"/>
  </p:sldMasterIdLst>
  <p:notesMasterIdLst>
    <p:notesMasterId xmlns:r="http://schemas.openxmlformats.org/officeDocument/2006/relationships" r:id="R70341a65b94e403d"/>
  </p:notesMasterIdLst>
  <p:sldIdLst>
    <p:sldId xmlns:r="http://schemas.openxmlformats.org/officeDocument/2006/relationships" id="256" r:id="Raa5b59b1d2aa430e"/>
    <p:sldId xmlns:r="http://schemas.openxmlformats.org/officeDocument/2006/relationships" id="257" r:id="R83266379b63c48c7"/>
    <p:sldId xmlns:r="http://schemas.openxmlformats.org/officeDocument/2006/relationships" id="258" r:id="R7e5ccc81465b408b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e6dd9eaca14b82" /><Relationship Type="http://schemas.openxmlformats.org/officeDocument/2006/relationships/slideMaster" Target="/ppt/slideMasters/slideMaster1.xml" Id="R75b73eba690f44b9" /><Relationship Type="http://schemas.openxmlformats.org/officeDocument/2006/relationships/notesMaster" Target="/ppt/notesMasters/notesMaster1.xml" Id="R70341a65b94e403d" /><Relationship Type="http://schemas.openxmlformats.org/officeDocument/2006/relationships/presProps" Target="/ppt/presProps.xml" Id="Rafadc423e2174fc1" /><Relationship Type="http://schemas.openxmlformats.org/officeDocument/2006/relationships/viewProps" Target="/ppt/viewProps.xml" Id="Rd30f443cd22a4352" /><Relationship Type="http://schemas.openxmlformats.org/officeDocument/2006/relationships/tableStyles" Target="/ppt/tableStyles.xml" Id="Raa1746f3d1f54e91" /><Relationship Type="http://schemas.openxmlformats.org/officeDocument/2006/relationships/slide" Target="/ppt/slides/slide1.xml" Id="Raa5b59b1d2aa430e" /><Relationship Type="http://schemas.openxmlformats.org/officeDocument/2006/relationships/slide" Target="/ppt/slides/slide2.xml" Id="R83266379b63c48c7" /><Relationship Type="http://schemas.openxmlformats.org/officeDocument/2006/relationships/slide" Target="/ppt/slides/slide3.xml" Id="R7e5ccc81465b40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edab4155e740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7f0577606d4140" /><Relationship Type="http://schemas.openxmlformats.org/officeDocument/2006/relationships/notesMaster" Target="/ppt/notesMasters/notesMaster1.xml" Id="R1ce1356b96eb48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cc587de70342ea" /><Relationship Type="http://schemas.openxmlformats.org/officeDocument/2006/relationships/notesMaster" Target="/ppt/notesMasters/notesMaster1.xml" Id="R7a5dc4d2748449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d8050c64f34b9b" /><Relationship Type="http://schemas.openxmlformats.org/officeDocument/2006/relationships/notesMaster" Target="/ppt/notesMasters/notesMaster1.xml" Id="Rf39a6e3c26984b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NEA Dates of Hawker Centre Closures, https://data.gov.sg/datasets/d_bda4baa634dd1cc7a6c7cad5f19e2d68/view . Counts recomputed from the 22 Sep 2026 snapshot for 28 Sep 2026. No claim of food insecurity is inferred. Town council scheduling role: https://www.nea.gov.sg/our-services/hawker-management/announcements . Team institution/course/year/email are required separately before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NEA closure dataset d_bda4baa634dd1cc7a6c7cad5f19e2d68; Census 2020 age and subzone population d_d95ae740c0f8961a0b10435836660ce0; URA planning areas d_4765db0e87b9c86336792efe8a1f7a66 and subzones d_8594ae9ff96d0c708bc2af633048edfb; NEA waste d_daf568968ab40dc81e7b08887a83c8fa. All data.gov.sg. Spatial model uses geographic representative points, not population centroids or walking routes. Closure discovery already exists in myENV and public products; the differentiation is coordinator planning.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is implemented as a deployment package and locally tested but requires a verified Databricks workspace run before final submission. Free Edition is for non-commercial learning/prototyping: https://daisi.online/guide and https://docs.databricks.com/aws/en/getting-started/free-edition-limitations . Pilot targets and pricing are unvalidated. AI-assisted development is disclosed in the repository; project owner and presenter is Shivam Gupta.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42d8a6e97a4d82" /><Relationship Type="http://schemas.openxmlformats.org/officeDocument/2006/relationships/notesSlide" Target="/ppt/notesSlides/notesSlide1.xml" Id="R8f5908d133ab4c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34844efb3c4cb5" /><Relationship Type="http://schemas.openxmlformats.org/officeDocument/2006/relationships/notesSlide" Target="/ppt/notesSlides/notesSlide2.xml" Id="R5804c0f3bad64b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1696ca09d04e1f" /><Relationship Type="http://schemas.openxmlformats.org/officeDocument/2006/relationships/notesSlide" Target="/ppt/notesSlides/notesSlide3.xml" Id="R12a6808c801744a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179770E-CC86-4934-A9CA-85796035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EFF35F4-646E-4372-AC4D-7C93107C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041C18C-B3BC-4118-9363-A65424B0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Problem &amp; why it matters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9C8FF3E-D9A7-4B4D-A3B8-60C8BF62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Team name: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HawkerBridge     Project owner: Shivam Gupta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Problem statement: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C3 - KopilamAI: hawker culture and food access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problem: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closure notice does not tell a community coordinator which neighbourhoods need temporary meal support, or how to use a limited budget.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Who is affected: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Residents who rely on nearby hawker food, especially seniors. On 28 September, 17 listed centres with 1,025 food stalls have scheduled closures. These are infrastructure counts, not measured hungry residents.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Why now: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Cleaning and renovation closures are known ahead of time. Town councils can compare cleaning dates and prepare support before a neighbourhood loses access.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31D80B7-27D8-4ACE-9DA3-E4273D4D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3254095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E6142E-E250-4A92-94E3-67C90B20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C2B4800-29F4-4C60-B6BE-1747E2D0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C111C7-96F9-496B-BF8D-A21B7D6A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Solution &amp; data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D67CCE-F6DD-4313-8BA2-2EDBC83B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solution: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closure continuity desk that compares dates and proposes a budgeted, reviewable meal-support plan for neighbourhoods flagged by an access model.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user: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town council planner or community meal coordinator chooses a date, planning area and budget, checks alternatives, then exports a plan for human review.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Data from data.gov.sg: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NEA closure dates, centre locations and stall counts (2026). SingStat Census 2020 population by subzone and age, joined to URA 2019 boundaries. NEA annual food-waste data supplies national context only, never local demand labels.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What differs: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Counterfactual cleaning-date comparisons and constrained allocation, with explicit costs, capacity, source provenance and uncertainty. Every allocation has an explicit objective and a comparison baseline.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0D0D31-782C-4D5A-9C0C-972C7377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1921732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8787E49-447E-4EDB-8079-30977E81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FFD79B-1BAD-40A4-A3DC-929F24EC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FB7FDCB-08A9-43FE-9F28-CE3C3149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Databricks architecture &amp; impact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5C85147-7B4C-4DA6-AC7C-B0569174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Intended platform: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Public APIs / Lakeflow Job / Bronze raw Delta / Silver validated closures and population / Gold access model and allocation / Databricks Apps. Unity Catalog governs tables. MLflow records the optimiser's baseline comparisons.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Demo: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An authenticated map, closure calendar, scope and budget controls, a saved plan with PDF export, plus a notebook run and a governed SQL evidence dashboard.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Impact to test: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Fewer coordinator hours per closure and fewer residents reporting lost meal access. Pilot targets: halve planning time and verify every proposed site. A funded pilot and organisation subscription are commercial hypotheses, not sales.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Two-week sprint: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Deploy the tested local pipeline to Free Edition, validate locations with a coordinator, benchmark allocations and rehearse. Paid hosting follows a pilot.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62A60F-D139-4B37-A3F1-0BAAF28E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180484042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2026-09-22T04:37:48.0320000Z</dcterms:created>
  <dcterms:modified xsi:type="dcterms:W3CDTF">2026-09-22T04:37:48.0320000Z</dcterms:modified>
</coreProperties>
</file>